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spPr>
            <a:solidFill>
              <a:srgbClr val="C746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6</c:v>
                </c:pt>
                <c:pt idx="2">
                  <c:v>36</c:v>
                </c:pt>
                <c:pt idx="3">
                  <c:v>203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 K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726680" y="-1005840"/>
            <a:ext cx="5303520" cy="5303520"/>
          </a:xfrm>
          <a:prstGeom prst="arc">
            <a:avLst/>
          </a:prstGeom>
          <a:solidFill>
            <a:srgbClr val="C74634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4251960"/>
            <a:ext cx="1920240" cy="1920240"/>
          </a:xfrm>
          <a:prstGeom prst="ellipse">
            <a:avLst/>
          </a:prstGeom>
          <a:solidFill>
            <a:srgbClr val="E05A47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5166360"/>
            <a:ext cx="658368" cy="658368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58368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731520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ORACLE ISV SALES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6656" y="1481328"/>
            <a:ext cx="6720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FY27 Target Account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 기획안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704088" y="3346704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0D5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입력은 최소화하고, 고객 상태·Opportunity·Forecast는 선명하게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76656" y="4983480"/>
            <a:ext cx="6263640" cy="713232"/>
          </a:xfrm>
          <a:prstGeom prst="roundRect">
            <a:avLst>
              <a:gd name="adj" fmla="val 12821"/>
            </a:avLst>
          </a:prstGeom>
          <a:solidFill>
            <a:srgbClr val="263244"/>
          </a:solidFill>
          <a:ln w="12700">
            <a:solidFill>
              <a:srgbClr val="3C49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5202936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252개 FY27 ISV Target Account를 하나의 실행 리듬으로 전환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4944" y="62636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Prepared by Astra  |  2026.07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| 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CRM의 목표는 “기록”이 아니라 “다음 행동”입니다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영업대표의 입력 부담을 줄이고, 관리자에게는 신뢰 가능한 Forecast를 제공하는 실행형 CRM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464040" y="3108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50" kern="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FY27 ISV TARGET ACCOUNT CRM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03504" y="1874520"/>
            <a:ext cx="2514600" cy="3593592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3816" y="2103120"/>
            <a:ext cx="475488" cy="47548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22494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" y="277977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Zero-input first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3816" y="3319272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계정·담당·Tier·Play는 엑셀에서 선적재하고, 활동/메일/미팅은 가능한 범위에서 자동 수집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" y="4736592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FBE7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4814316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입력시간 ↓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56432" y="1874520"/>
            <a:ext cx="2514600" cy="3593592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66744" y="2103120"/>
            <a:ext cx="475488" cy="475488"/>
          </a:xfrm>
          <a:prstGeom prst="ellipse">
            <a:avLst/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66744" y="22494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66744" y="277977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One-click status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66744" y="3319272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상태·다음 행동·예정일만 빠르게 갱신하고, 오래된 계정은 자동으로 리마인드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66744" y="4736592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DFF3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9896" y="4814316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9A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신선도 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9360" y="1874520"/>
            <a:ext cx="2514600" cy="3593592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9672" y="2103120"/>
            <a:ext cx="475488" cy="47548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22494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19672" y="277977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Opportunity discipline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19672" y="3319272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Stage와 Forecast Category를 분리하고 금액·Close Date·Next Step을 필수 통제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19672" y="4736592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E7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814316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정확도 ↑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62288" y="1874520"/>
            <a:ext cx="2514600" cy="3593592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372600" y="2103120"/>
            <a:ext cx="475488" cy="475488"/>
          </a:xfrm>
          <a:prstGeom prst="ellipse">
            <a:avLst/>
          </a:prstGeom>
          <a:solidFill>
            <a:srgbClr val="7656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72600" y="22494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72600" y="277977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Manager cockpit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372600" y="3319272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 / Best Case / Pipeline, Coverage, Slippage, Hygiene를 한 화면에서 드릴다운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372600" y="4736592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EEE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45752" y="4814316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656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리뷰 속도 ↑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" y="5779008"/>
            <a:ext cx="10972800" cy="438912"/>
          </a:xfrm>
          <a:prstGeom prst="roundRect">
            <a:avLst>
              <a:gd name="adj" fmla="val 16667"/>
            </a:avLst>
          </a:prstGeom>
          <a:solidFill>
            <a:srgbClr val="1821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" y="5907024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원칙  |  CRM이 영업대표에게 일을 요구하지 않고, “지금 누구에게 무엇을 해야 하는지”를 먼저 제안한다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| DATA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Target Account 데이터가 말해주는 설계 우선순위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업로드된 FY27_ISV_accounts.xlsx의 집계 분석 — 행 단위 고객명은 본 자료에 노출하지 않음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464040" y="3108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50" kern="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FY27 ISV TARGET ACCOUNT CRM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03504" y="1737360"/>
            <a:ext cx="196596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737360"/>
            <a:ext cx="73152" cy="1069848"/>
          </a:xfrm>
          <a:prstGeom prst="rect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920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252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32104" y="23774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Accounts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104" y="2596896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계정명·영문명 100%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24912" y="1737360"/>
            <a:ext cx="196596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24912" y="1737360"/>
            <a:ext cx="73152" cy="1069848"/>
          </a:xfrm>
          <a:prstGeom prst="rect">
            <a:avLst/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1920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2953512" y="23774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Sales Owners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53512" y="2596896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 필드 100%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46320" y="1737360"/>
            <a:ext cx="196596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737360"/>
            <a:ext cx="73152" cy="1069848"/>
          </a:xfrm>
          <a:prstGeom prst="rect">
            <a:avLst/>
          </a:prstGeom>
          <a:solidFill>
            <a:srgbClr val="2F6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920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80.6%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5074920" y="23774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T4 비중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74920" y="2596896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203 / 252 accounts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67728" y="1737360"/>
            <a:ext cx="196596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67728" y="1737360"/>
            <a:ext cx="73152" cy="1069848"/>
          </a:xfrm>
          <a:prstGeom prst="rect">
            <a:avLst/>
          </a:prstGeom>
          <a:solidFill>
            <a:srgbClr val="7656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96328" y="1920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70.6%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7196328" y="23774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“기타” Play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96328" y="2596896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178 / 252 accounts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089136" y="1737360"/>
            <a:ext cx="2487168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89136" y="1737360"/>
            <a:ext cx="73152" cy="1069848"/>
          </a:xfrm>
          <a:prstGeom prst="rect">
            <a:avLst/>
          </a:prstGeom>
          <a:solidFill>
            <a:srgbClr val="F4B7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17736" y="192024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62.5%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9317736" y="2377440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셀 충족률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317736" y="2596896"/>
            <a:ext cx="2075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분류 필드는 0%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3504" y="3063240"/>
            <a:ext cx="5248656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59536" y="33284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Tier 분포</a:t>
            </a:r>
            <a:endParaRPr lang="en-US" sz="15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859536" y="3721608"/>
          <a:ext cx="4617720" cy="16642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Shape 31"/>
          <p:cNvSpPr/>
          <p:nvPr/>
        </p:nvSpPr>
        <p:spPr>
          <a:xfrm>
            <a:off x="6062472" y="3063240"/>
            <a:ext cx="5513832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327648" y="3328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 설계 시 즉시 보완할 데이터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6345936" y="3749040"/>
            <a:ext cx="228600" cy="2286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93408" y="37307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산업·분류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7882128" y="37307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외부/기존 마스터로 자동 보강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10561320" y="3703320"/>
            <a:ext cx="658368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634472" y="378104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345936" y="4187952"/>
            <a:ext cx="228600" cy="228600"/>
          </a:xfrm>
          <a:prstGeom prst="ellipse">
            <a:avLst/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93408" y="41696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강점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7882128" y="41696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기반 추천 후 대표가 승인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10561320" y="4142232"/>
            <a:ext cx="658368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634472" y="4219956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반자동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6345936" y="4626864"/>
            <a:ext cx="228600" cy="2286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693408" y="46085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 ID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7882128" y="460857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불변 ID + 법인 관계로 중복 통제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0561320" y="4581144"/>
            <a:ext cx="658368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634472" y="465886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345936" y="5065776"/>
            <a:ext cx="228600" cy="228600"/>
          </a:xfrm>
          <a:prstGeom prst="ellipse">
            <a:avLst/>
          </a:prstGeom>
          <a:solidFill>
            <a:srgbClr val="7656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93408" y="50474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Opportunity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7882128" y="50474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금액·Stage·Close Date 최소 필수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10561320" y="5020056"/>
            <a:ext cx="658368" cy="310896"/>
          </a:xfrm>
          <a:prstGeom prst="roundRect">
            <a:avLst>
              <a:gd name="adj" fmla="val 29412"/>
            </a:avLst>
          </a:prstGeom>
          <a:solidFill>
            <a:srgbClr val="FBE7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634472" y="509778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76072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4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FY27_ISV_accounts.xlsx — T4 중 “기타” 171건(84.2%), 담당자별 48–83개 계정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| USER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영업대표의 하루를 5개의 “한 번 클릭” 흐름으로 단순화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데스크톱과 모바일 모두 동일한 리듬: 오늘 할 일 → 고객 접점 → 상태 갱신 → Opportunity → 주간 Forecast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464040" y="3108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50" kern="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FY27 ISV TARGET ACCOUNT CRM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12648" y="1874520"/>
            <a:ext cx="1956816" cy="3456432"/>
          </a:xfrm>
          <a:prstGeom prst="roundRect">
            <a:avLst>
              <a:gd name="adj" fmla="val 5607"/>
            </a:avLst>
          </a:prstGeom>
          <a:solidFill>
            <a:srgbClr val="FBE7E2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210312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08:30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6384" y="2578608"/>
            <a:ext cx="512064" cy="51206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74320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" y="326440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Focus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86384" y="3877056"/>
            <a:ext cx="15727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Tier·정체일수·마감임박 기반으로 10개 계정 추천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87752" y="2816352"/>
            <a:ext cx="256032" cy="256032"/>
          </a:xfrm>
          <a:prstGeom prst="chevron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1874520"/>
            <a:ext cx="1956816" cy="3456432"/>
          </a:xfrm>
          <a:prstGeom prst="roundRect">
            <a:avLst>
              <a:gd name="adj" fmla="val 5607"/>
            </a:avLst>
          </a:prstGeom>
          <a:solidFill>
            <a:srgbClr val="F7F5F2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54096" y="210312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9A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10:00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54096" y="2578608"/>
            <a:ext cx="512064" cy="512064"/>
          </a:xfrm>
          <a:prstGeom prst="ellipse">
            <a:avLst/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54096" y="274320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54096" y="326440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접점 기록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054096" y="3877056"/>
            <a:ext cx="15727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메일·미팅 자동 연결, 수기 메모는 음성/짧은 텍스트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55464" y="2816352"/>
            <a:ext cx="256032" cy="256032"/>
          </a:xfrm>
          <a:prstGeom prst="chevron">
            <a:avLst/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48072" y="1874520"/>
            <a:ext cx="1956816" cy="3456432"/>
          </a:xfrm>
          <a:prstGeom prst="roundRect">
            <a:avLst>
              <a:gd name="adj" fmla="val 5607"/>
            </a:avLst>
          </a:prstGeom>
          <a:solidFill>
            <a:srgbClr val="F7F5F2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21808" y="210312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14:00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21808" y="2578608"/>
            <a:ext cx="512064" cy="51206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808" y="274320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21808" y="326440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갱신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5321808" y="3877056"/>
            <a:ext cx="15727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+ 다음 행동 + 날짜를 한 화면에서 저장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23176" y="2816352"/>
            <a:ext cx="256032" cy="256032"/>
          </a:xfrm>
          <a:prstGeom prst="chevron">
            <a:avLst/>
          </a:prstGeom>
          <a:solidFill>
            <a:srgbClr val="2F6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15784" y="1874520"/>
            <a:ext cx="1956816" cy="3456432"/>
          </a:xfrm>
          <a:prstGeom prst="roundRect">
            <a:avLst>
              <a:gd name="adj" fmla="val 5607"/>
            </a:avLst>
          </a:prstGeom>
          <a:solidFill>
            <a:srgbClr val="F7F5F2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89520" y="210312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56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16:30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89520" y="2578608"/>
            <a:ext cx="512064" cy="512064"/>
          </a:xfrm>
          <a:prstGeom prst="ellipse">
            <a:avLst/>
          </a:prstGeom>
          <a:solidFill>
            <a:srgbClr val="7656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274320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89520" y="326440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Opp 갱신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589520" y="3877056"/>
            <a:ext cx="15727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이동 시 필요한 2~3개 필드만 상황별 노출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390888" y="2816352"/>
            <a:ext cx="256032" cy="256032"/>
          </a:xfrm>
          <a:prstGeom prst="chevron">
            <a:avLst/>
          </a:prstGeom>
          <a:solidFill>
            <a:srgbClr val="7656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83496" y="1874520"/>
            <a:ext cx="1956816" cy="3456432"/>
          </a:xfrm>
          <a:prstGeom prst="roundRect">
            <a:avLst>
              <a:gd name="adj" fmla="val 5607"/>
            </a:avLst>
          </a:prstGeom>
          <a:solidFill>
            <a:srgbClr val="F7F5F2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857232" y="210312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7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금요일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857232" y="2578608"/>
            <a:ext cx="512064" cy="512064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57232" y="274320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57232" y="326440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Forecast 제출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857232" y="3877056"/>
            <a:ext cx="15727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변경된 건만 확인하고 Commit/Best Case 확정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28800" y="5669280"/>
            <a:ext cx="8549640" cy="502920"/>
          </a:xfrm>
          <a:prstGeom prst="roundRect">
            <a:avLst>
              <a:gd name="adj" fmla="val 14545"/>
            </a:avLst>
          </a:prstGeom>
          <a:solidFill>
            <a:srgbClr val="1821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84832" y="583387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대표가 직접 입력하는 핵심값: 고객 상태 · 다음 행동 · 다음 행동일 · Opp 금액/Stage/Close Date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| OPERATING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 상태는 단순하게, 시스템 판단은 풍부하게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사용자는 6개 상태만 선택하고 시스템이 활동 이력·정체·리스크를 조합해 건강도를 계산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464040" y="3108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50" kern="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FY27 ISV TARGET ACCOUNT CRM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76072" y="1828800"/>
            <a:ext cx="1664208" cy="950976"/>
          </a:xfrm>
          <a:prstGeom prst="roundRect">
            <a:avLst>
              <a:gd name="adj" fmla="val 7692"/>
            </a:avLst>
          </a:prstGeom>
          <a:solidFill>
            <a:srgbClr val="66708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2075688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미접촉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2386584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Target만 배정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58568" y="2194560"/>
            <a:ext cx="219456" cy="256032"/>
          </a:xfrm>
          <a:prstGeom prst="chevron">
            <a:avLst/>
          </a:prstGeom>
          <a:solidFill>
            <a:srgbClr val="B7BE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78024" y="1828800"/>
            <a:ext cx="1664208" cy="950976"/>
          </a:xfrm>
          <a:prstGeom prst="roundRect">
            <a:avLst>
              <a:gd name="adj" fmla="val 7692"/>
            </a:avLst>
          </a:prstGeom>
          <a:solidFill>
            <a:srgbClr val="2F6B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2075688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접촉중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386584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접점 진행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60520" y="2194560"/>
            <a:ext cx="219456" cy="256032"/>
          </a:xfrm>
          <a:prstGeom prst="chevron">
            <a:avLst/>
          </a:prstGeom>
          <a:solidFill>
            <a:srgbClr val="B7BE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9976" y="1828800"/>
            <a:ext cx="1664208" cy="950976"/>
          </a:xfrm>
          <a:prstGeom prst="roundRect">
            <a:avLst>
              <a:gd name="adj" fmla="val 7692"/>
            </a:avLst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07992" y="2075688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07992" y="2386584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Pain/Use case 확인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62472" y="2194560"/>
            <a:ext cx="219456" cy="256032"/>
          </a:xfrm>
          <a:prstGeom prst="chevron">
            <a:avLst/>
          </a:prstGeom>
          <a:solidFill>
            <a:srgbClr val="B7BE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81928" y="1828800"/>
            <a:ext cx="1664208" cy="950976"/>
          </a:xfrm>
          <a:prstGeom prst="roundRect">
            <a:avLst>
              <a:gd name="adj" fmla="val 7692"/>
            </a:avLst>
          </a:prstGeom>
          <a:solidFill>
            <a:srgbClr val="7656C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9944" y="2075688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 Fit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9944" y="2386584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Play 검증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64424" y="2194560"/>
            <a:ext cx="219456" cy="256032"/>
          </a:xfrm>
          <a:prstGeom prst="chevron">
            <a:avLst/>
          </a:prstGeom>
          <a:solidFill>
            <a:srgbClr val="B7BE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1828800"/>
            <a:ext cx="1664208" cy="950976"/>
          </a:xfrm>
          <a:prstGeom prst="roundRect">
            <a:avLst>
              <a:gd name="adj" fmla="val 7692"/>
            </a:avLst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11896" y="2075688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Opportunity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11896" y="2386584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Opp 생성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866376" y="2194560"/>
            <a:ext cx="219456" cy="256032"/>
          </a:xfrm>
          <a:prstGeom prst="chevron">
            <a:avLst/>
          </a:prstGeom>
          <a:solidFill>
            <a:srgbClr val="B7BE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85832" y="1828800"/>
            <a:ext cx="1664208" cy="950976"/>
          </a:xfrm>
          <a:prstGeom prst="roundRect">
            <a:avLst>
              <a:gd name="adj" fmla="val 7692"/>
            </a:avLst>
          </a:prstGeom>
          <a:solidFill>
            <a:srgbClr val="F4B74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213848" y="2075688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Nurture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13848" y="2386584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 재조정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" y="3255264"/>
            <a:ext cx="530352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35387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시스템이 자동 계산하는 Account Health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7824" y="397764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활동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31720" y="3995928"/>
            <a:ext cx="2377440" cy="128016"/>
          </a:xfrm>
          <a:prstGeom prst="roundRect">
            <a:avLst>
              <a:gd name="adj" fmla="val 35714"/>
            </a:avLst>
          </a:prstGeom>
          <a:solidFill>
            <a:srgbClr val="E7EA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31720" y="3995928"/>
            <a:ext cx="2377440" cy="128016"/>
          </a:xfrm>
          <a:prstGeom prst="roundRect">
            <a:avLst>
              <a:gd name="adj" fmla="val 35714"/>
            </a:avLst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9776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77824" y="426110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Step 유무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31720" y="4279392"/>
            <a:ext cx="2377440" cy="128016"/>
          </a:xfrm>
          <a:prstGeom prst="roundRect">
            <a:avLst>
              <a:gd name="adj" fmla="val 35714"/>
            </a:avLst>
          </a:prstGeom>
          <a:solidFill>
            <a:srgbClr val="E7EA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31720" y="4279392"/>
            <a:ext cx="1981200" cy="128016"/>
          </a:xfrm>
          <a:prstGeom prst="roundRect">
            <a:avLst>
              <a:gd name="adj" fmla="val 35714"/>
            </a:avLst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4261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77824" y="45445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의사결정자 접점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331720" y="4562856"/>
            <a:ext cx="2377440" cy="128016"/>
          </a:xfrm>
          <a:prstGeom prst="roundRect">
            <a:avLst>
              <a:gd name="adj" fmla="val 35714"/>
            </a:avLst>
          </a:prstGeom>
          <a:solidFill>
            <a:srgbClr val="E7EA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31720" y="4562856"/>
            <a:ext cx="1584960" cy="128016"/>
          </a:xfrm>
          <a:prstGeom prst="roundRect">
            <a:avLst>
              <a:gd name="adj" fmla="val 35714"/>
            </a:avLst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45445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77824" y="48280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적합도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331720" y="4846320"/>
            <a:ext cx="2377440" cy="128016"/>
          </a:xfrm>
          <a:prstGeom prst="roundRect">
            <a:avLst>
              <a:gd name="adj" fmla="val 35714"/>
            </a:avLst>
          </a:prstGeom>
          <a:solidFill>
            <a:srgbClr val="E7EA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31720" y="4846320"/>
            <a:ext cx="1188720" cy="128016"/>
          </a:xfrm>
          <a:prstGeom prst="roundRect">
            <a:avLst>
              <a:gd name="adj" fmla="val 35714"/>
            </a:avLst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18888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77824" y="511149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Opp 진행도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331720" y="5129784"/>
            <a:ext cx="2377440" cy="128016"/>
          </a:xfrm>
          <a:prstGeom prst="roundRect">
            <a:avLst>
              <a:gd name="adj" fmla="val 35714"/>
            </a:avLst>
          </a:prstGeom>
          <a:solidFill>
            <a:srgbClr val="E7EA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31720" y="5129784"/>
            <a:ext cx="792480" cy="128016"/>
          </a:xfrm>
          <a:prstGeom prst="roundRect">
            <a:avLst>
              <a:gd name="adj" fmla="val 35714"/>
            </a:avLst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18888" y="51114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10%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44768" y="3255264"/>
            <a:ext cx="5431536" cy="2423160"/>
          </a:xfrm>
          <a:prstGeom prst="roundRect">
            <a:avLst>
              <a:gd name="adj" fmla="val 4528"/>
            </a:avLst>
          </a:prstGeom>
          <a:solidFill>
            <a:srgbClr val="18212F"/>
          </a:solidFill>
          <a:ln w="8890">
            <a:solidFill>
              <a:srgbClr val="2D3A4B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428232" y="3538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Nudge 예시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37376" y="3968496"/>
            <a:ext cx="201168" cy="20116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48272" y="3950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14일 무활동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156448" y="3950208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“이번 주 후속 연락” 작업 생성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37376" y="4352544"/>
            <a:ext cx="201168" cy="201168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48272" y="43342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Close Date 7일 이내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156448" y="4334256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Step·의사결정자 미확인 경고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437376" y="4736592"/>
            <a:ext cx="201168" cy="201168"/>
          </a:xfrm>
          <a:prstGeom prst="ellipse">
            <a:avLst/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48272" y="47183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T1/T2 미접촉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156448" y="4718304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담당자와 매니저에게 우선순위 알림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437376" y="5120640"/>
            <a:ext cx="201168" cy="20116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48272" y="51023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Nurture 예정일 도래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156448" y="5102352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Focus Queue로 자동 복귀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| ACCOUNT 360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화면에서 “누구에게 무엇을 언제” 할지 결정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고객명 대신 예시 계정을 사용한 화면 구성안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464040" y="3108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50" kern="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FY27 ISV TARGET ACCOUNT CRM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03504" y="1700784"/>
            <a:ext cx="10972800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700784"/>
            <a:ext cx="10972800" cy="658368"/>
          </a:xfrm>
          <a:prstGeom prst="rect">
            <a:avLst/>
          </a:prstGeom>
          <a:solidFill>
            <a:srgbClr val="1821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A사  |  Tier 1  |  AI Infra / MLOps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482328" y="1874520"/>
            <a:ext cx="1024128" cy="310896"/>
          </a:xfrm>
          <a:prstGeom prst="roundRect">
            <a:avLst>
              <a:gd name="adj" fmla="val 29412"/>
            </a:avLst>
          </a:prstGeom>
          <a:solidFill>
            <a:srgbClr val="DDF2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55480" y="1952244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HEALTH 78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588752" y="1874520"/>
            <a:ext cx="777240" cy="310896"/>
          </a:xfrm>
          <a:prstGeom prst="roundRect">
            <a:avLst>
              <a:gd name="adj" fmla="val 29412"/>
            </a:avLst>
          </a:prstGeom>
          <a:solidFill>
            <a:srgbClr val="E7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61904" y="1952244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DISCOVERY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7824" y="268833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 Snapshot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86968" y="308152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30815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Sales Rep 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86968" y="350215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350215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Software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6968" y="392277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강점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22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/ RDMA / OKE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6968" y="4343400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활동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43434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2일 전 미팅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86968" y="476402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37360" y="47640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기술총괄 확인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977640" y="2596896"/>
            <a:ext cx="0" cy="3218688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79392" y="268833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Best Action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270248" y="3063240"/>
            <a:ext cx="3063240" cy="1170432"/>
          </a:xfrm>
          <a:prstGeom prst="roundRect">
            <a:avLst>
              <a:gd name="adj" fmla="val 9375"/>
            </a:avLst>
          </a:prstGeom>
          <a:solidFill>
            <a:srgbClr val="FBE7E2"/>
          </a:solidFill>
          <a:ln w="8890">
            <a:solidFill>
              <a:srgbClr val="FBE7E2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35424" y="3328416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PoC 요구사항 확인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35424" y="373075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 07/18  ·  Owner: Sales Rep 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79392" y="4498848"/>
            <a:ext cx="731520" cy="310896"/>
          </a:xfrm>
          <a:prstGeom prst="roundRect">
            <a:avLst>
              <a:gd name="adj" fmla="val 29412"/>
            </a:avLst>
          </a:prstGeom>
          <a:solidFill>
            <a:srgbClr val="DDF2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52544" y="4576572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20640" y="4498848"/>
            <a:ext cx="960120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3792" y="4576572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 변경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99632" y="4498848"/>
            <a:ext cx="950976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72784" y="457657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 추가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79392" y="5074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656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Suggestion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58384" y="50749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미팅 요약에서 “PoC 규모 미확정”을 감지했습니다.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635240" y="2596896"/>
            <a:ext cx="0" cy="3218688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36992" y="268833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Activity Timeline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955280" y="3145536"/>
            <a:ext cx="219456" cy="21945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65008" y="3364992"/>
            <a:ext cx="0" cy="338328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02752" y="312724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07/14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942832" y="312724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미팅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451592" y="3090672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DDF2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24744" y="316839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955280" y="3712464"/>
            <a:ext cx="219456" cy="219456"/>
          </a:xfrm>
          <a:prstGeom prst="ellipse">
            <a:avLst/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65008" y="3931920"/>
            <a:ext cx="0" cy="338328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02752" y="369417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07/11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942832" y="36941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 회신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0451592" y="365760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DDF2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524744" y="373532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955280" y="4279392"/>
            <a:ext cx="219456" cy="219456"/>
          </a:xfrm>
          <a:prstGeom prst="ellipse">
            <a:avLst/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65008" y="4498848"/>
            <a:ext cx="0" cy="338328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02752" y="426110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07/08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942832" y="426110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Discovery 메모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451592" y="4224528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24744" y="430225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수기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955280" y="4846320"/>
            <a:ext cx="219456" cy="219456"/>
          </a:xfrm>
          <a:prstGeom prst="ellipse">
            <a:avLst/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02752" y="482803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07/01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942832" y="48280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배정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0451592" y="4791456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DDF2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24744" y="486918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76072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4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예시 — 실제 UI/필드명은 상세 설계 단계에서 확정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|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Stage와 Forecast Category를 분리해 예측의 왜곡을 막습니다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Stage는 영업 진행 증거, Forecast Category는 해당 분기 수주 확신도를 표현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464040" y="3108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50" kern="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FY27 ISV TARGET ACCOUNT CRM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03504" y="1719072"/>
            <a:ext cx="5486400" cy="438912"/>
          </a:xfrm>
          <a:prstGeom prst="roundRect">
            <a:avLst>
              <a:gd name="adj" fmla="val 16667"/>
            </a:avLst>
          </a:prstGeom>
          <a:solidFill>
            <a:srgbClr val="1821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37944"/>
            <a:ext cx="5193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— 구매 여정의 증거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2478024"/>
            <a:ext cx="475488" cy="47548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64261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" y="3099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Qualify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340156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Pain + Sponsor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6424" y="2715768"/>
            <a:ext cx="411480" cy="0"/>
          </a:xfrm>
          <a:prstGeom prst="line">
            <a:avLst/>
          </a:prstGeom>
          <a:noFill/>
          <a:ln w="25400">
            <a:solidFill>
              <a:srgbClr val="D9DEE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517904" y="2478024"/>
            <a:ext cx="475488" cy="47548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17904" y="264261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89888" y="3099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Discover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35024" y="340156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 case + Budget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02536" y="2715768"/>
            <a:ext cx="411480" cy="0"/>
          </a:xfrm>
          <a:prstGeom prst="line">
            <a:avLst/>
          </a:prstGeom>
          <a:noFill/>
          <a:ln w="25400">
            <a:solidFill>
              <a:srgbClr val="D9DEE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414016" y="2478024"/>
            <a:ext cx="475488" cy="47548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14016" y="264261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3099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31136" y="340156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 + PoC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898648" y="2715768"/>
            <a:ext cx="411480" cy="0"/>
          </a:xfrm>
          <a:prstGeom prst="line">
            <a:avLst/>
          </a:prstGeom>
          <a:noFill/>
          <a:ln w="25400">
            <a:solidFill>
              <a:srgbClr val="D9DEE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310128" y="2478024"/>
            <a:ext cx="475488" cy="47548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264261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82112" y="3099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Propose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127248" y="340156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견적 + 의사결정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94760" y="2715768"/>
            <a:ext cx="411480" cy="0"/>
          </a:xfrm>
          <a:prstGeom prst="line">
            <a:avLst/>
          </a:prstGeom>
          <a:noFill/>
          <a:ln w="25400">
            <a:solidFill>
              <a:srgbClr val="D9DEE7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06240" y="2478024"/>
            <a:ext cx="475488" cy="475488"/>
          </a:xfrm>
          <a:prstGeom prst="ellipse">
            <a:avLst/>
          </a:prstGeom>
          <a:solidFill>
            <a:srgbClr val="263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264261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78224" y="3099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Negotiate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023360" y="340156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법무/구매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90872" y="2715768"/>
            <a:ext cx="411480" cy="0"/>
          </a:xfrm>
          <a:prstGeom prst="line">
            <a:avLst/>
          </a:prstGeom>
          <a:noFill/>
          <a:ln w="25400">
            <a:solidFill>
              <a:srgbClr val="D9DEE7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102352" y="2478024"/>
            <a:ext cx="475488" cy="475488"/>
          </a:xfrm>
          <a:prstGeom prst="ellipse">
            <a:avLst/>
          </a:prstGeom>
          <a:solidFill>
            <a:srgbClr val="2632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264261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74336" y="3099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19472" y="340156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Won / Lost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382512" y="1719072"/>
            <a:ext cx="5193792" cy="438912"/>
          </a:xfrm>
          <a:prstGeom prst="roundRect">
            <a:avLst>
              <a:gd name="adj" fmla="val 16667"/>
            </a:avLst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8816" y="1837944"/>
            <a:ext cx="4901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FORECAST CATEGORY — 분기 내 수주 확신도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37376" y="2212848"/>
            <a:ext cx="5074920" cy="393192"/>
          </a:xfrm>
          <a:prstGeom prst="roundRect">
            <a:avLst>
              <a:gd name="adj" fmla="val 27907"/>
            </a:avLst>
          </a:prstGeom>
          <a:solidFill>
            <a:srgbClr val="F7F5F2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56832" y="231343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818120" y="231343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아직 검증 중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469880" y="2253996"/>
            <a:ext cx="749808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43032" y="233172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10–30%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37376" y="2715768"/>
            <a:ext cx="5074920" cy="393192"/>
          </a:xfrm>
          <a:prstGeom prst="roundRect">
            <a:avLst>
              <a:gd name="adj" fmla="val 27907"/>
            </a:avLst>
          </a:prstGeom>
          <a:solidFill>
            <a:srgbClr val="F7F5F2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656832" y="281635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Case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18120" y="28163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 충족 시 가능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469880" y="2756916"/>
            <a:ext cx="749808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43032" y="283464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40–70%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37376" y="3218688"/>
            <a:ext cx="5074920" cy="393192"/>
          </a:xfrm>
          <a:prstGeom prst="roundRect">
            <a:avLst>
              <a:gd name="adj" fmla="val 27907"/>
            </a:avLst>
          </a:prstGeom>
          <a:solidFill>
            <a:srgbClr val="FBE7E2"/>
          </a:solidFill>
          <a:ln w="8890">
            <a:solidFill>
              <a:srgbClr val="C74634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656832" y="331927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818120" y="331927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대표가 책임지는 예상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0469880" y="3259836"/>
            <a:ext cx="749808" cy="310896"/>
          </a:xfrm>
          <a:prstGeom prst="roundRect">
            <a:avLst>
              <a:gd name="adj" fmla="val 29412"/>
            </a:avLst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543032" y="333756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80–100%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37376" y="3721608"/>
            <a:ext cx="5074920" cy="393192"/>
          </a:xfrm>
          <a:prstGeom prst="roundRect">
            <a:avLst>
              <a:gd name="adj" fmla="val 27907"/>
            </a:avLst>
          </a:prstGeom>
          <a:solidFill>
            <a:srgbClr val="F7F5F2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656832" y="382219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656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Omitted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818120" y="382219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분기 제외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0469880" y="3762756"/>
            <a:ext cx="749808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543032" y="384048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437376" y="4224528"/>
            <a:ext cx="5074920" cy="393192"/>
          </a:xfrm>
          <a:prstGeom prst="roundRect">
            <a:avLst>
              <a:gd name="adj" fmla="val 27907"/>
            </a:avLst>
          </a:prstGeom>
          <a:solidFill>
            <a:srgbClr val="F7F5F2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656832" y="432511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Closed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818120" y="43251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Won / Lost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0469880" y="4265676"/>
            <a:ext cx="749808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543032" y="434340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 / 0%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03504" y="4901184"/>
            <a:ext cx="10972800" cy="932688"/>
          </a:xfrm>
          <a:prstGeom prst="roundRect">
            <a:avLst>
              <a:gd name="adj" fmla="val 11765"/>
            </a:avLst>
          </a:prstGeom>
          <a:solidFill>
            <a:srgbClr val="18212F"/>
          </a:solidFill>
          <a:ln w="8890">
            <a:solidFill>
              <a:srgbClr val="2D3A4B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896112" y="509320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이동 시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상황별 필수값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3108960" y="5074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7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Discover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108960" y="54041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 Case · 예상금액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5102352" y="5074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7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Validate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102352" y="54041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기술검증 결과 · 경쟁사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7095744" y="5074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7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Propose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095744" y="54041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Close Date · 견적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9089136" y="5074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7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089136" y="54041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Step · 의사결정일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| DATA &amp; AUTOMATION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최소화는 “필드 삭제”가 아니라 “자동 채움 + 점진 노출”로 구현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Target Account 데이터를 기준정보로 삼고, 활동과 Opportunity를 연결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464040" y="3108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50" kern="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FY27 ISV TARGET ACCOUNT CRM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" y="1920240"/>
            <a:ext cx="201168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C74634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920240"/>
            <a:ext cx="2011680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9456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5603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계정명 · Tier · Play · 담당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97480" y="2331720"/>
            <a:ext cx="256032" cy="256032"/>
          </a:xfrm>
          <a:prstGeom prst="chevron">
            <a:avLst/>
          </a:prstGeom>
          <a:solidFill>
            <a:srgbClr val="B7BE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44952" y="1920240"/>
            <a:ext cx="201168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159A9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44952" y="1920240"/>
            <a:ext cx="2011680" cy="109728"/>
          </a:xfrm>
          <a:prstGeom prst="rect">
            <a:avLst/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9544" y="219456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72968" y="25603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· 영향력 · 관계도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84064" y="2331720"/>
            <a:ext cx="256032" cy="256032"/>
          </a:xfrm>
          <a:prstGeom prst="chevron">
            <a:avLst/>
          </a:prstGeom>
          <a:solidFill>
            <a:srgbClr val="B7BE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31536" y="1920240"/>
            <a:ext cx="201168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2F6BFF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31536" y="1920240"/>
            <a:ext cx="2011680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6128" y="219456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59552" y="25603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미팅 · 메일 · 메모 · 작업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70648" y="2331720"/>
            <a:ext cx="256032" cy="256032"/>
          </a:xfrm>
          <a:prstGeom prst="chevron">
            <a:avLst/>
          </a:prstGeom>
          <a:solidFill>
            <a:srgbClr val="B7BE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1920240"/>
            <a:ext cx="201168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7656C9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818120" y="1920240"/>
            <a:ext cx="2011680" cy="109728"/>
          </a:xfrm>
          <a:prstGeom prst="rect">
            <a:avLst/>
          </a:prstGeom>
          <a:solidFill>
            <a:srgbClr val="7656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82712" y="219456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OPPORTUNITY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46136" y="25603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금액 · Stage · Forecast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857232" y="2331720"/>
            <a:ext cx="256032" cy="256032"/>
          </a:xfrm>
          <a:prstGeom prst="chevron">
            <a:avLst/>
          </a:prstGeom>
          <a:solidFill>
            <a:srgbClr val="B7BE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04704" y="1920240"/>
            <a:ext cx="132588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F4B740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204704" y="1920240"/>
            <a:ext cx="1325880" cy="109728"/>
          </a:xfrm>
          <a:prstGeom prst="rect">
            <a:avLst/>
          </a:prstGeom>
          <a:solidFill>
            <a:srgbClr val="F4B7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69296" y="219456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332720" y="2560320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Service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8368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필드 채움 방식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8368" y="3877056"/>
            <a:ext cx="19933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2960" y="4069080"/>
            <a:ext cx="713232" cy="310896"/>
          </a:xfrm>
          <a:prstGeom prst="roundRect">
            <a:avLst>
              <a:gd name="adj" fmla="val 29412"/>
            </a:avLst>
          </a:prstGeom>
          <a:solidFill>
            <a:srgbClr val="DFF3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414680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9A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" y="448970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Excel/마스터 Import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481888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계정·Tier·Play·담당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926080" y="3877056"/>
            <a:ext cx="19933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090672" y="4069080"/>
            <a:ext cx="713232" cy="310896"/>
          </a:xfrm>
          <a:prstGeom prst="roundRect">
            <a:avLst>
              <a:gd name="adj" fmla="val 29412"/>
            </a:avLst>
          </a:prstGeom>
          <a:solidFill>
            <a:srgbClr val="E7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63824" y="414680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090672" y="448970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메일·캘린더 연동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090672" y="481888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활동일·참석자·요약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93792" y="3877056"/>
            <a:ext cx="19933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58384" y="4069080"/>
            <a:ext cx="713232" cy="310896"/>
          </a:xfrm>
          <a:prstGeom prst="roundRect">
            <a:avLst>
              <a:gd name="adj" fmla="val 29412"/>
            </a:avLst>
          </a:prstGeom>
          <a:solidFill>
            <a:srgbClr val="EEE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31536" y="414680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656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추천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58384" y="448970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외부/기존 데이터 추론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58384" y="481888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산업·OCI강점·Next Action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461504" y="3877056"/>
            <a:ext cx="19933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26096" y="4069080"/>
            <a:ext cx="713232" cy="310896"/>
          </a:xfrm>
          <a:prstGeom prst="roundRect">
            <a:avLst>
              <a:gd name="adj" fmla="val 29412"/>
            </a:avLst>
          </a:prstGeom>
          <a:solidFill>
            <a:srgbClr val="FBE7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99248" y="414680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확인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26096" y="448970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 클릭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626096" y="481888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상태·Forecast Category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729216" y="3877056"/>
            <a:ext cx="19933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893808" y="4069080"/>
            <a:ext cx="713232" cy="310896"/>
          </a:xfrm>
          <a:prstGeom prst="roundRect">
            <a:avLst>
              <a:gd name="adj" fmla="val 29412"/>
            </a:avLst>
          </a:prstGeom>
          <a:solidFill>
            <a:srgbClr val="FFF3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66960" y="414680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6B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입력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893808" y="448970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Gate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893808" y="481888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금액·Close Date·Next Step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508760" y="5650992"/>
            <a:ext cx="9235440" cy="438912"/>
          </a:xfrm>
          <a:prstGeom prst="roundRect">
            <a:avLst>
              <a:gd name="adj" fmla="val 16667"/>
            </a:avLst>
          </a:prstGeom>
          <a:solidFill>
            <a:srgbClr val="1821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83080" y="5788152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Progressive Disclosure  |  현재 Stage에서 필요한 필드만 보여주고, 나머지는 숨긴다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2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05A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| MANAGER COCKPIT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 · Forecast · Pipeline을 한눈에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1783080" cy="310896"/>
          </a:xfrm>
          <a:prstGeom prst="roundRect">
            <a:avLst>
              <a:gd name="adj" fmla="val 29412"/>
            </a:avLst>
          </a:prstGeom>
          <a:solidFill>
            <a:srgbClr val="3C2D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0644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A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예시 · 가상 금액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1435608"/>
            <a:ext cx="2542032" cy="941832"/>
          </a:xfrm>
          <a:prstGeom prst="roundRect">
            <a:avLst>
              <a:gd name="adj" fmla="val 7767"/>
            </a:avLst>
          </a:prstGeom>
          <a:solidFill>
            <a:srgbClr val="263244"/>
          </a:solidFill>
          <a:ln w="8890">
            <a:solidFill>
              <a:srgbClr val="3A46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664208"/>
            <a:ext cx="164592" cy="164592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6002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₩4.6B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115568" y="2020824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47288" y="1435608"/>
            <a:ext cx="2542032" cy="941832"/>
          </a:xfrm>
          <a:prstGeom prst="roundRect">
            <a:avLst>
              <a:gd name="adj" fmla="val 7767"/>
            </a:avLst>
          </a:prstGeom>
          <a:solidFill>
            <a:srgbClr val="263244"/>
          </a:solidFill>
          <a:ln w="8890">
            <a:solidFill>
              <a:srgbClr val="3A46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66744" y="1664208"/>
            <a:ext cx="164592" cy="16459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41064" y="16002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₩7.9B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941064" y="2020824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FORECAST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72784" y="1435608"/>
            <a:ext cx="2542032" cy="941832"/>
          </a:xfrm>
          <a:prstGeom prst="roundRect">
            <a:avLst>
              <a:gd name="adj" fmla="val 7767"/>
            </a:avLst>
          </a:prstGeom>
          <a:solidFill>
            <a:srgbClr val="263244"/>
          </a:solidFill>
          <a:ln w="8890">
            <a:solidFill>
              <a:srgbClr val="3A46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664208"/>
            <a:ext cx="164592" cy="164592"/>
          </a:xfrm>
          <a:prstGeom prst="ellipse">
            <a:avLst/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6002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₩12.8B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766560" y="2020824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98280" y="1435608"/>
            <a:ext cx="2542032" cy="941832"/>
          </a:xfrm>
          <a:prstGeom prst="roundRect">
            <a:avLst>
              <a:gd name="adj" fmla="val 7767"/>
            </a:avLst>
          </a:prstGeom>
          <a:solidFill>
            <a:srgbClr val="263244"/>
          </a:solidFill>
          <a:ln w="8890">
            <a:solidFill>
              <a:srgbClr val="3A46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17736" y="1664208"/>
            <a:ext cx="164592" cy="164592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92056" y="16002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2.6×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592056" y="2020824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COVERAGE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" y="2688336"/>
            <a:ext cx="5532120" cy="3191256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29718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 Funnel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43000" y="3520440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52728" y="3611880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65192" y="36118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₩12.8B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00200" y="4050792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2F6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09928" y="414223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CASE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07992" y="41422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₩7.9B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125980" y="4581144"/>
            <a:ext cx="2606040" cy="347472"/>
          </a:xfrm>
          <a:prstGeom prst="roundRect">
            <a:avLst>
              <a:gd name="adj" fmla="val 13158"/>
            </a:avLst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35708" y="4672584"/>
            <a:ext cx="14333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982212" y="467258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₩4.6B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74620" y="5111496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2E7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4348" y="5202936"/>
            <a:ext cx="82981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CLOSED WON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33572" y="52029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₩2.1B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82512" y="2688336"/>
            <a:ext cx="5184648" cy="3191256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297180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This Week’s Attention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647688" y="3456432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FBE7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47688" y="354787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296912" y="3474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 변동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705088" y="347472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지난주 대비 하향/상향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018520" y="343814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647688" y="3986784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FBE7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47688" y="40782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96912" y="4005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Close Date 임박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705088" y="400507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Step 미입력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1018520" y="3968496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647688" y="4517136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47688" y="460857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96912" y="45354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30일 정체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705088" y="4535424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이동 없음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018520" y="449884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647688" y="5047488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47688" y="51389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296912" y="50657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T1/T2 미접촉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705088" y="506577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주 우선 접촉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1018520" y="502920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65976" y="5504688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드릴다운 필터  |  담당 · Tier · Play · Stage · Forecast Category · Close Month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40080" y="6345936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Opportunity 데이터 미제공으로 화면의 금액·건수는 기능 설명을 위한 가상 데이터입니다.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| KPI &amp; FORECAST 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숫자보다 중요한 것은 “같은 정의”입니다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Dashboard의 모든 지표에 계산 규칙·기준일·소유자를 명시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464040" y="3108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50" kern="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FY27 ISV TARGET ACCOUNT CRM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21792" y="178308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32104" y="2002536"/>
            <a:ext cx="402336" cy="40233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9842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26664" y="1965960"/>
            <a:ext cx="758952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9816" y="2043684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 책임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2104" y="256032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분기 Commit Category의 Open Amount 합계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78308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2002536"/>
            <a:ext cx="402336" cy="402336"/>
          </a:xfrm>
          <a:prstGeom prst="ellipse">
            <a:avLst/>
          </a:prstGeom>
          <a:solidFill>
            <a:srgbClr val="2F6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4648" y="19842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Forecast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39712" y="1965960"/>
            <a:ext cx="758952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12864" y="2043684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관점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45152" y="256032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 + Σ(Best Case × 확률)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47888" y="178308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58200" y="2002536"/>
            <a:ext cx="402336" cy="402336"/>
          </a:xfrm>
          <a:prstGeom prst="ellipse">
            <a:avLst/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97696" y="19842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652760" y="1965960"/>
            <a:ext cx="758952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25912" y="2043684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분모 명시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58200" y="256032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분기 Open Opportunity 전체 금액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" y="3776472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2104" y="3995928"/>
            <a:ext cx="402336" cy="402336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39776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026664" y="3959352"/>
            <a:ext cx="758952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99816" y="4037076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대비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2104" y="455371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Pipeline ÷ Remaining Quota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34840" y="3776472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45152" y="3995928"/>
            <a:ext cx="402336" cy="402336"/>
          </a:xfrm>
          <a:prstGeom prst="ellipse">
            <a:avLst/>
          </a:prstGeom>
          <a:solidFill>
            <a:srgbClr val="7656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84648" y="39776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Slippage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39712" y="3959352"/>
            <a:ext cx="758952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12864" y="4037076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비교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45152" y="455371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기준일 이후 Close Date가 다음 분기로 이동한 금액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47888" y="3776472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458200" y="3995928"/>
            <a:ext cx="402336" cy="40233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97696" y="39776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Hygiene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652760" y="3959352"/>
            <a:ext cx="758952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25912" y="4037076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품질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58200" y="455371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필수값·Next Step·최근활동 기준 충족률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" y="5925312"/>
            <a:ext cx="10972800" cy="365760"/>
          </a:xfrm>
          <a:prstGeom prst="roundRect">
            <a:avLst>
              <a:gd name="adj" fmla="val 15000"/>
            </a:avLst>
          </a:prstGeom>
          <a:solidFill>
            <a:srgbClr val="1821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6035040"/>
            <a:ext cx="10378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Snapshot  |  Target · Won · Commit · Forecast · Pipeline · Gap과 Pull-in/Push-out을 같은 기준일로 추적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| ARCHITECTURE &amp; 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가볍게 시작하되, 데이터·권한·감사는 처음부터 설계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MVP는 Target Account Import + 활동 연동 + Opportunity + Dashboard에 집중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464040" y="3108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50" kern="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FY27 ISV TARGET ACCOUNT CRM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764792"/>
            <a:ext cx="6547104" cy="484632"/>
          </a:xfrm>
          <a:prstGeom prst="roundRect">
            <a:avLst>
              <a:gd name="adj" fmla="val 11321"/>
            </a:avLst>
          </a:prstGeom>
          <a:solidFill>
            <a:srgbClr val="FBE7E2"/>
          </a:solidFill>
          <a:ln w="10160">
            <a:solidFill>
              <a:srgbClr val="C746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1109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84832" y="1911096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 · Mobile · Teams/Slack 알림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432304"/>
            <a:ext cx="6547104" cy="484632"/>
          </a:xfrm>
          <a:prstGeom prst="roundRect">
            <a:avLst>
              <a:gd name="adj" fmla="val 11321"/>
            </a:avLst>
          </a:prstGeom>
          <a:solidFill>
            <a:srgbClr val="EEF1F5"/>
          </a:solidFill>
          <a:ln w="10160">
            <a:solidFill>
              <a:srgbClr val="1821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57860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 Core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84832" y="2578608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불변 Account ID · Contact · Activity · Opportunity · Forecast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099816"/>
            <a:ext cx="6547104" cy="484632"/>
          </a:xfrm>
          <a:prstGeom prst="roundRect">
            <a:avLst>
              <a:gd name="adj" fmla="val 11321"/>
            </a:avLst>
          </a:prstGeom>
          <a:solidFill>
            <a:srgbClr val="DFF3F3"/>
          </a:solidFill>
          <a:ln w="10160">
            <a:solidFill>
              <a:srgbClr val="159A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4612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9A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Automation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84832" y="3246120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메일/캘린더 동기화 · AI 요약 · Nudge · Approval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767328"/>
            <a:ext cx="6547104" cy="484632"/>
          </a:xfrm>
          <a:prstGeom prst="roundRect">
            <a:avLst>
              <a:gd name="adj" fmla="val 11321"/>
            </a:avLst>
          </a:prstGeom>
          <a:solidFill>
            <a:srgbClr val="E7EEFF"/>
          </a:solidFill>
          <a:ln w="1016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1363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&amp; BI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84832" y="3913632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Snapshot · Semantic KPI · Dashboard · Export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434840"/>
            <a:ext cx="6547104" cy="484632"/>
          </a:xfrm>
          <a:prstGeom prst="roundRect">
            <a:avLst>
              <a:gd name="adj" fmla="val 11321"/>
            </a:avLst>
          </a:prstGeom>
          <a:solidFill>
            <a:srgbClr val="EEE9FA"/>
          </a:solidFill>
          <a:ln w="10160">
            <a:solidFill>
              <a:srgbClr val="7656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5811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656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84832" y="4581144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Oracle Identity · M365 · 기존 고객/견적 시스템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79792" y="1764792"/>
            <a:ext cx="4078224" cy="3154680"/>
          </a:xfrm>
          <a:prstGeom prst="roundRect">
            <a:avLst>
              <a:gd name="adj" fmla="val 3478"/>
            </a:avLst>
          </a:prstGeom>
          <a:solidFill>
            <a:srgbClr val="18212F"/>
          </a:solidFill>
          <a:ln w="8890">
            <a:solidFill>
              <a:srgbClr val="2D3A4B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0" y="20848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권한·감사 원칙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90688" y="2596896"/>
            <a:ext cx="201168" cy="20116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01584" y="25786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RBAC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81160" y="257860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0D5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영업대표는 담당 계정, 관리자는 조직 범위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90688" y="3017520"/>
            <a:ext cx="201168" cy="201168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01584" y="29992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Field Security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81160" y="2999232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0D5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금액·Forecast 변경 권한 분리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90688" y="3438144"/>
            <a:ext cx="201168" cy="201168"/>
          </a:xfrm>
          <a:prstGeom prst="ellipse">
            <a:avLst/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01584" y="341985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81160" y="341985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0D5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Stage/금액/Close Date 변경 이력 보존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90688" y="3858768"/>
            <a:ext cx="201168" cy="20116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01584" y="38404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Retention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281160" y="3840480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0D5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활동/첨부 보존기간과 삭제 정책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790688" y="4279392"/>
            <a:ext cx="201168" cy="201168"/>
          </a:xfrm>
          <a:prstGeom prst="ellipse">
            <a:avLst/>
          </a:prstGeom>
          <a:solidFill>
            <a:srgbClr val="7656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01584" y="426110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Export Control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281160" y="4261104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0D5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대량 다운로드·외부공유 통제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79792" y="52303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Non-Goals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924544" y="5120640"/>
            <a:ext cx="2240280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97696" y="519836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CPQ/계약 기능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924544" y="5513832"/>
            <a:ext cx="2240280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97696" y="5591556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마케팅 자동화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924544" y="5907024"/>
            <a:ext cx="2240280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97696" y="5984748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고객지원 Case 관리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" y="5705856"/>
            <a:ext cx="6556248" cy="493776"/>
          </a:xfrm>
          <a:prstGeom prst="roundRect">
            <a:avLst>
              <a:gd name="adj" fmla="val 11111"/>
            </a:avLst>
          </a:prstGeom>
          <a:solidFill>
            <a:srgbClr val="FBE7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5861304"/>
            <a:ext cx="6016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주의  |  고객·연락처·활동 정보는 최소권한, 암호화, 감사로그를 기본값으로 적용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| DELIVERY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 MVP로 데이터 신뢰와 사용 습관을 함께 만듭니다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출시보다 “영업대표가 매주 Forecast를 제출하는 운영 리듬” 정착을 완료 기준으로 설정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464040" y="3108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50" kern="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FY27 ISV TARGET ACCOUNT CRM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03504" y="1828800"/>
            <a:ext cx="1975104" cy="26060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057400"/>
            <a:ext cx="438912" cy="43891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20370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268833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Discover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4672" y="3127248"/>
            <a:ext cx="713232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320497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1–2주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361188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현행 프로세스·KPI 정의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필드/권한/연동 범위 확정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87752" y="2871216"/>
            <a:ext cx="274320" cy="256032"/>
          </a:xfrm>
          <a:prstGeom prst="chevron">
            <a:avLst/>
          </a:prstGeom>
          <a:solidFill>
            <a:srgbClr val="98A2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0360" y="1828800"/>
            <a:ext cx="1975104" cy="26060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81528" y="2057400"/>
            <a:ext cx="438912" cy="43891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81528" y="220370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81528" y="268833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Foundation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3081528" y="3127248"/>
            <a:ext cx="713232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320497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3–5주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81528" y="361188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252개 Account 정제·적재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 360 + 상태관리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64608" y="2871216"/>
            <a:ext cx="274320" cy="256032"/>
          </a:xfrm>
          <a:prstGeom prst="chevron">
            <a:avLst/>
          </a:prstGeom>
          <a:solidFill>
            <a:srgbClr val="98A2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57216" y="1828800"/>
            <a:ext cx="1975104" cy="26060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58384" y="2057400"/>
            <a:ext cx="438912" cy="43891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58384" y="220370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58384" y="268833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Opportunity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5358384" y="3127248"/>
            <a:ext cx="713232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31536" y="320497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6–8주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58384" y="361188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Gate·Forecast Category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연동·Nudge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41464" y="2871216"/>
            <a:ext cx="274320" cy="256032"/>
          </a:xfrm>
          <a:prstGeom prst="chevron">
            <a:avLst/>
          </a:prstGeom>
          <a:solidFill>
            <a:srgbClr val="98A2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34072" y="1828800"/>
            <a:ext cx="1975104" cy="26060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35240" y="2057400"/>
            <a:ext cx="438912" cy="43891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220370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635240" y="268833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Cockpit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7635240" y="3127248"/>
            <a:ext cx="713232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08392" y="320497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9–10주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35240" y="361188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Commit/Forecast/Pipeline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Snapshot·Drill-down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418320" y="2871216"/>
            <a:ext cx="274320" cy="256032"/>
          </a:xfrm>
          <a:prstGeom prst="chevron">
            <a:avLst/>
          </a:prstGeom>
          <a:solidFill>
            <a:srgbClr val="98A2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10928" y="1828800"/>
            <a:ext cx="1975104" cy="26060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912096" y="2057400"/>
            <a:ext cx="438912" cy="43891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12096" y="220370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912096" y="268833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Pilot &amp; Scale</a:t>
            </a:r>
            <a:endParaRPr lang="en-US" sz="1550" dirty="0"/>
          </a:p>
        </p:txBody>
      </p:sp>
      <p:sp>
        <p:nvSpPr>
          <p:cNvPr id="42" name="Shape 40"/>
          <p:cNvSpPr/>
          <p:nvPr/>
        </p:nvSpPr>
        <p:spPr>
          <a:xfrm>
            <a:off x="9912096" y="3127248"/>
            <a:ext cx="713232" cy="310896"/>
          </a:xfrm>
          <a:prstGeom prst="roundRect">
            <a:avLst>
              <a:gd name="adj" fmla="val 29412"/>
            </a:avLst>
          </a:prstGeom>
          <a:solidFill>
            <a:srgbClr val="EEF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85248" y="320497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11–12주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912096" y="361188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4명 Pilot·UAT·교육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운영인수·Go/No-Go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1792" y="48006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성공지표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1792" y="5212080"/>
            <a:ext cx="2487168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04672" y="5404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9A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≥ 90%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655064" y="53949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Account 상태 최신화율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364992" y="5212080"/>
            <a:ext cx="2487168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547872" y="5404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≥ 95%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4398264" y="53949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Opp 필수값 충족률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08192" y="5212080"/>
            <a:ext cx="2487168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291072" y="5404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656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≤ 15분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141464" y="53949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대표별 주간 Forecast 제출시간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851392" y="5212080"/>
            <a:ext cx="2487168" cy="786384"/>
          </a:xfrm>
          <a:prstGeom prst="roundRect">
            <a:avLst>
              <a:gd name="adj" fmla="val 13953"/>
            </a:avLst>
          </a:prstGeom>
          <a:solidFill>
            <a:srgbClr val="FBE7E2"/>
          </a:solidFill>
          <a:ln w="8890">
            <a:solidFill>
              <a:srgbClr val="C74634"/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9034272" y="5404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± 10%p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9884664" y="53949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 정확도 목표 범위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76072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4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 목표는 Baseline 측정 후 최종 확정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2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71323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DECISION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34416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단계: 2주 Discovery 승인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76656" y="216712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0D5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CRM을 “입력 시스템”이 아닌 “영업 실행 시스템”으로 시작합니다.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94944" y="3054096"/>
            <a:ext cx="310896" cy="31089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314553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70432" y="30449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정의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50592" y="304495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7C0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 / Forecast / Pipeline 산식과 Snapshot 기준일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4944" y="3712464"/>
            <a:ext cx="310896" cy="310896"/>
          </a:xfrm>
          <a:prstGeom prst="ellipse">
            <a:avLst/>
          </a:prstGeom>
          <a:solidFill>
            <a:srgbClr val="15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3803904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70432" y="37033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Gate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50592" y="37033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7C0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단계 진입·이탈 증거 및 필수값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" y="4370832"/>
            <a:ext cx="310896" cy="310896"/>
          </a:xfrm>
          <a:prstGeom prst="ellipse">
            <a:avLst/>
          </a:prstGeom>
          <a:solidFill>
            <a:srgbClr val="2F6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4462272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70432" y="4361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연동 범위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50592" y="436168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7C0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M365 활동, Oracle Identity, 기존 견적/계약 데이터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" y="5029200"/>
            <a:ext cx="310896" cy="310896"/>
          </a:xfrm>
          <a:prstGeom prst="ellipse">
            <a:avLst/>
          </a:prstGeom>
          <a:solidFill>
            <a:srgbClr val="7656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512064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70432" y="50200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Pilot 운영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50592" y="5020056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7C0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4명 담당자 기준 주간 리뷰와 피드백 리듬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09560" y="1234440"/>
            <a:ext cx="3401568" cy="43434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508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57032" y="16459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Discovery 산출물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8284464" y="2322576"/>
            <a:ext cx="201168" cy="20116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84464" y="233172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650224" y="2304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To-Be 프로세스 및 화면흐름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84464" y="2852928"/>
            <a:ext cx="201168" cy="20116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84464" y="286207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650224" y="2834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확정 데이터 사전·Stage Gate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84464" y="3383280"/>
            <a:ext cx="201168" cy="20116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84464" y="339242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650224" y="3364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Dashboard KPI 정의서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84464" y="3913632"/>
            <a:ext cx="201168" cy="20116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84464" y="392277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650224" y="38953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연동·권한·감사 설계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84464" y="4443984"/>
            <a:ext cx="201168" cy="20116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84464" y="445312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650224" y="44256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821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Backlog 및 상세 일정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" y="62819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A2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 |  FY27 ISV CRM Planning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09960" y="62819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05A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Nexus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FY27 ISV Target Account CRM 기획안</dc:title>
  <dc:subject>FY27 ISV Target Account CRM 기획안</dc:subject>
  <dc:creator>Astra / Nexus IT</dc:creator>
  <cp:lastModifiedBy>Astra / Nexus IT</cp:lastModifiedBy>
  <cp:revision>1</cp:revision>
  <dcterms:created xsi:type="dcterms:W3CDTF">2026-07-15T15:13:02Z</dcterms:created>
  <dcterms:modified xsi:type="dcterms:W3CDTF">2026-07-15T15:13:02Z</dcterms:modified>
</cp:coreProperties>
</file>