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500000">
            <a:off x="7680960" y="-1097280"/>
            <a:ext cx="5669280" cy="5669280"/>
          </a:xfrm>
          <a:prstGeom prst="arc">
            <a:avLst/>
          </a:prstGeom>
          <a:solidFill>
            <a:srgbClr val="C74634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300000">
            <a:off x="8412480" y="3474720"/>
            <a:ext cx="4114800" cy="4114800"/>
          </a:xfrm>
          <a:prstGeom prst="arc">
            <a:avLst/>
          </a:prstGeom>
          <a:solidFill>
            <a:srgbClr val="7C3AED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4944" y="621792"/>
            <a:ext cx="2468880" cy="274320"/>
          </a:xfrm>
          <a:prstGeom prst="roundRect">
            <a:avLst>
              <a:gd name="adj" fmla="val 4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640080"/>
            <a:ext cx="2359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BUILD READY · DEPLOY ON APPROVAL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94944" y="1234440"/>
            <a:ext cx="7498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Integrated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Sales Platform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9077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CRM · Quote · Consumption · Weekly Report · Demo Gallery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3232" y="3803904"/>
            <a:ext cx="6126480" cy="1389888"/>
          </a:xfrm>
          <a:prstGeom prst="roundRect">
            <a:avLst>
              <a:gd name="adj" fmla="val 526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4087368"/>
            <a:ext cx="5596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화면 · 단일 데이터 플랫폼 · 승인 즉시 배포 가능한 구조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87552" y="457200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ADBHERMES 중심으로 영업 실행과 OCI 가시성을 연결합니다.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62636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Prepared by Astra · Nexus IT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· 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658368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 업무를 하나의 실행 플랫폼으로 통합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11978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자산을 재사용하고 데이터 기준·보안·배포 통제를 먼저 고정합니다.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1792" y="1755648"/>
            <a:ext cx="5321808" cy="1664208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2020824"/>
            <a:ext cx="420624" cy="420624"/>
          </a:xfrm>
          <a:prstGeom prst="ellipse">
            <a:avLst/>
          </a:prstGeom>
          <a:solidFill>
            <a:srgbClr val="C7463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112264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81328" y="1993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One Shell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2569464"/>
            <a:ext cx="4681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좌측 메뉴에서 5개 모듈을 전환하고 본문에서 즉시 업무 수행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6263640" y="1755648"/>
            <a:ext cx="5321808" cy="1664208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19672" y="2020824"/>
            <a:ext cx="420624" cy="42062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9672" y="2112264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123176" y="19933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One Data Core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19672" y="2569464"/>
            <a:ext cx="4681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ADBHERMES에 업무·가격·사용량·감사 데이터를 일관된 모델로 저장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621792" y="3749040"/>
            <a:ext cx="5321808" cy="1664208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7824" y="4014216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" y="4105656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8132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Fresh by Design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77824" y="4562856"/>
            <a:ext cx="4681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가격·Consumption의 기준시각·통화·단위·수집 이력을 함께 보존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6263640" y="3749040"/>
            <a:ext cx="5321808" cy="1664208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19672" y="4014216"/>
            <a:ext cx="420624" cy="42062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9672" y="4105656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23176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Deploy with Gates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19672" y="4562856"/>
            <a:ext cx="4681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SSH·DB·TLS·NSG·백업 승인 후 원자적 release 전환과 rollback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621792" y="5916168"/>
            <a:ext cx="10972800" cy="347472"/>
          </a:xfrm>
          <a:prstGeom prst="roundRect">
            <a:avLst>
              <a:gd name="adj" fmla="val 21053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6007608"/>
            <a:ext cx="10469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권장 MVP: CRM + Weekly → Quote + Consumption → Demo/AI  |  12주 · 5단계 · 승인 기반 배포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" y="651052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Astra · OCI Integrated Sales Platform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109960" y="647395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· CURRENT STATE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658368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확인된 자산과 데이터 품질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11978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도구로 확인한 실제 상태를 기획 기준선으로 사용합니다.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1792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1737360"/>
            <a:ext cx="73152" cy="1051560"/>
          </a:xfrm>
          <a:prstGeom prst="rect">
            <a:avLst/>
          </a:prstGeom>
          <a:solidFill>
            <a:srgbClr val="C7463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90195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832104" y="230428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Accounts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32104" y="2542032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8개 필드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2852928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52928" y="1737360"/>
            <a:ext cx="73152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63240" y="190195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80.6%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063240" y="230428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T4 비중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542032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203 accounts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5084064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84064" y="1737360"/>
            <a:ext cx="73152" cy="1051560"/>
          </a:xfrm>
          <a:prstGeom prst="rect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4376" y="190195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70.6%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5294376" y="230428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“기타” Play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294376" y="2542032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178 accounts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731520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0" y="1737360"/>
            <a:ext cx="73152" cy="1051560"/>
          </a:xfrm>
          <a:prstGeom prst="rect">
            <a:avLst/>
          </a:prstGeom>
          <a:solidFill>
            <a:srgbClr val="0891B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25512" y="190195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891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7525512" y="230428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분류·산업·OCI강점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525512" y="2542032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 필드 미입력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9546336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546336" y="1737360"/>
            <a:ext cx="73152" cy="1051560"/>
          </a:xfrm>
          <a:prstGeom prst="rect">
            <a:avLst/>
          </a:prstGeom>
          <a:solidFill>
            <a:srgbClr val="0596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56648" y="190195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ECPU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9756648" y="230428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ADBHERMES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756648" y="2542032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AVAILABLE · 1TB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621792" y="3182112"/>
            <a:ext cx="5394960" cy="310896"/>
          </a:xfrm>
          <a:prstGeom prst="roundRect">
            <a:avLst>
              <a:gd name="adj" fmla="val 1764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3218688"/>
            <a:ext cx="5175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APPLICATION SERVER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" y="3547872"/>
            <a:ext cx="5394960" cy="2139696"/>
          </a:xfrm>
          <a:prstGeom prst="roundRect">
            <a:avLst>
              <a:gd name="adj" fmla="val 3419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6112" y="38221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webapp · Oracle Linux 9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6112" y="423367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VM.Standard.E5.Flex  |  1 OCPU · 12GB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96112" y="4681728"/>
            <a:ext cx="2057400" cy="274320"/>
          </a:xfrm>
          <a:prstGeom prst="roundRect">
            <a:avLst>
              <a:gd name="adj" fmla="val 4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" y="4700016"/>
            <a:ext cx="19476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Public IP 217.142.147.141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27248" y="4681728"/>
            <a:ext cx="1691640" cy="274320"/>
          </a:xfrm>
          <a:prstGeom prst="roundRect">
            <a:avLst>
              <a:gd name="adj" fmla="val 40000"/>
            </a:avLst>
          </a:prstGeom>
          <a:solidFill>
            <a:srgbClr val="FBE9E5"/>
          </a:solidFill>
          <a:ln w="12700">
            <a:solidFill>
              <a:srgbClr val="FBE9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182112" y="4700016"/>
            <a:ext cx="1581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SSH key unavailable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96112" y="5148072"/>
            <a:ext cx="4526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서버는 확인됐지만 Astra 환경에는 접속 private key가 없음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199632" y="3182112"/>
            <a:ext cx="5394960" cy="310896"/>
          </a:xfrm>
          <a:prstGeom prst="roundRect">
            <a:avLst>
              <a:gd name="adj" fmla="val 1764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3218688"/>
            <a:ext cx="5175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199632" y="3547872"/>
            <a:ext cx="5394960" cy="2139696"/>
          </a:xfrm>
          <a:prstGeom prst="roundRect">
            <a:avLst>
              <a:gd name="adj" fmla="val 3419"/>
            </a:avLst>
          </a:prstGeom>
          <a:solidFill>
            <a:srgbClr val="F8F5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73952" y="38221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ADBHERMES · Autonomous AI Database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473952" y="423367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ECPU · Auto Scaling · 60-day backup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73952" y="4681728"/>
            <a:ext cx="1600200" cy="274320"/>
          </a:xfrm>
          <a:prstGeom prst="roundRect">
            <a:avLst>
              <a:gd name="adj" fmla="val 4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28816" y="4700016"/>
            <a:ext cx="1490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mTLS Wallet ready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266176" y="4681728"/>
            <a:ext cx="2221992" cy="274320"/>
          </a:xfrm>
          <a:prstGeom prst="roundRect">
            <a:avLst>
              <a:gd name="adj" fmla="val 4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321040" y="4700016"/>
            <a:ext cx="21122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E2F2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HERMESUSER credential pending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73952" y="5148072"/>
            <a:ext cx="4526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Wallet/driver/TCPS 1522 연결은 준비·검증 완료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21792" y="651052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Astra · OCI Integrated Sales Platform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3657600" y="6510528"/>
            <a:ext cx="7223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OCI CLI/API read-only discovery · FY27_ISV_accounts.xlsx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1109960" y="647395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· USER 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658368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메뉴는 고정, 본문은 업무에 맞춰 전환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11978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반응형 App Shell로 영업대표와 관리자가 같은 기준의 화면을 사용합니다.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1792" y="1682496"/>
            <a:ext cx="1097280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1682496"/>
            <a:ext cx="2514600" cy="4526280"/>
          </a:xfrm>
          <a:prstGeom prst="roundRect">
            <a:avLst>
              <a:gd name="adj" fmla="val 29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938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SALES HUB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2523744"/>
            <a:ext cx="1993392" cy="438912"/>
          </a:xfrm>
          <a:prstGeom prst="roundRect">
            <a:avLst>
              <a:gd name="adj" fmla="val 16667"/>
            </a:avLst>
          </a:prstGeom>
          <a:solidFill>
            <a:srgbClr val="2A3547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642616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99032" y="2624328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68680" y="3127248"/>
            <a:ext cx="1993392" cy="438912"/>
          </a:xfrm>
          <a:prstGeom prst="roundRect">
            <a:avLst>
              <a:gd name="adj" fmla="val 16667"/>
            </a:avLst>
          </a:prstGeom>
          <a:solidFill>
            <a:srgbClr val="172033"/>
          </a:solidFill>
          <a:ln w="12700">
            <a:solidFill>
              <a:srgbClr val="1720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461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99032" y="322783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견적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68680" y="3730752"/>
            <a:ext cx="1993392" cy="438912"/>
          </a:xfrm>
          <a:prstGeom prst="roundRect">
            <a:avLst>
              <a:gd name="adj" fmla="val 16667"/>
            </a:avLst>
          </a:prstGeom>
          <a:solidFill>
            <a:srgbClr val="172033"/>
          </a:solidFill>
          <a:ln w="12700">
            <a:solidFill>
              <a:srgbClr val="1720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38496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99032" y="38313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Consumption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" y="4334256"/>
            <a:ext cx="1993392" cy="438912"/>
          </a:xfrm>
          <a:prstGeom prst="roundRect">
            <a:avLst>
              <a:gd name="adj" fmla="val 16667"/>
            </a:avLst>
          </a:prstGeom>
          <a:solidFill>
            <a:srgbClr val="172033"/>
          </a:solidFill>
          <a:ln w="12700">
            <a:solidFill>
              <a:srgbClr val="172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45312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399032" y="443484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Weekly Report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" y="4937760"/>
            <a:ext cx="1993392" cy="438912"/>
          </a:xfrm>
          <a:prstGeom prst="roundRect">
            <a:avLst>
              <a:gd name="adj" fmla="val 16667"/>
            </a:avLst>
          </a:prstGeom>
          <a:solidFill>
            <a:srgbClr val="172033"/>
          </a:solidFill>
          <a:ln w="12700">
            <a:solidFill>
              <a:srgbClr val="1720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505663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399032" y="503834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 Gallery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56692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 하위 메뉴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4400" y="590702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Overview · ADB AI · AI Data Platform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3493008" y="195681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CRM · Account Cockpit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9582912" y="1938528"/>
            <a:ext cx="1481328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37776" y="1956816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Last sync 09:00 KST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493008" y="2542032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93008" y="2542032"/>
            <a:ext cx="73152" cy="1051560"/>
          </a:xfrm>
          <a:prstGeom prst="rect">
            <a:avLst/>
          </a:prstGeom>
          <a:solidFill>
            <a:srgbClr val="C7463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03320" y="270662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</a:t>
            </a:r>
            <a:endParaRPr lang="en-US" sz="2500" dirty="0"/>
          </a:p>
        </p:txBody>
      </p:sp>
      <p:sp>
        <p:nvSpPr>
          <p:cNvPr id="31" name="Text 29"/>
          <p:cNvSpPr/>
          <p:nvPr/>
        </p:nvSpPr>
        <p:spPr>
          <a:xfrm>
            <a:off x="3703320" y="3108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Accounts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0" y="2542032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69280" y="2542032"/>
            <a:ext cx="73152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79592" y="270662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36</a:t>
            </a:r>
            <a:endParaRPr lang="en-US" sz="2500" dirty="0"/>
          </a:p>
        </p:txBody>
      </p:sp>
      <p:sp>
        <p:nvSpPr>
          <p:cNvPr id="35" name="Text 33"/>
          <p:cNvSpPr/>
          <p:nvPr/>
        </p:nvSpPr>
        <p:spPr>
          <a:xfrm>
            <a:off x="5879592" y="3108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T1–T3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845552" y="2542032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845552" y="2542032"/>
            <a:ext cx="73152" cy="1051560"/>
          </a:xfrm>
          <a:prstGeom prst="rect">
            <a:avLst/>
          </a:prstGeom>
          <a:solidFill>
            <a:srgbClr val="0596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55864" y="270662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8055864" y="3108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Hot Actions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493008" y="3886200"/>
            <a:ext cx="5029200" cy="1737360"/>
          </a:xfrm>
          <a:prstGeom prst="roundRect">
            <a:avLst>
              <a:gd name="adj" fmla="val 4211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0" y="415137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Workbench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3749040" y="4544568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Next Action overdue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Opportunity at risk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Data enrichment needed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778240" y="3886200"/>
            <a:ext cx="2267712" cy="1737360"/>
          </a:xfrm>
          <a:prstGeom prst="roundRect">
            <a:avLst>
              <a:gd name="adj" fmla="val 4211"/>
            </a:avLst>
          </a:prstGeom>
          <a:solidFill>
            <a:srgbClr val="F8F5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52560" y="41513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Quality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9052560" y="4617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62.5%</a:t>
            </a:r>
            <a:endParaRPr lang="en-US" sz="2800" dirty="0"/>
          </a:p>
        </p:txBody>
      </p:sp>
      <p:sp>
        <p:nvSpPr>
          <p:cNvPr id="46" name="Text 44"/>
          <p:cNvSpPr/>
          <p:nvPr/>
        </p:nvSpPr>
        <p:spPr>
          <a:xfrm>
            <a:off x="9052560" y="511149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셀 충족률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21792" y="651052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Astra · OCI Integrated Sales Platform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1109960" y="647395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 · TARGET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6858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경량 모놀리스 + 관리형 데이터 플랫폼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21792" y="1207008"/>
            <a:ext cx="10058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OCPU 서버에서 시작하고, 데이터·보안·배포 경계는 확장 가능하게 분리합니다.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72033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965960"/>
            <a:ext cx="73152" cy="914400"/>
          </a:xfrm>
          <a:prstGeom prst="rect">
            <a:avLst/>
          </a:prstGeom>
          <a:solidFill>
            <a:srgbClr val="0891B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396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Sales Users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47802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Rep · Manager · Viewer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18688" y="1764792"/>
            <a:ext cx="3611880" cy="1261872"/>
          </a:xfrm>
          <a:prstGeom prst="roundRect">
            <a:avLst>
              <a:gd name="adj" fmla="val 5797"/>
            </a:avLst>
          </a:prstGeom>
          <a:solidFill>
            <a:srgbClr val="172033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18688" y="1764792"/>
            <a:ext cx="73152" cy="1261872"/>
          </a:xfrm>
          <a:prstGeom prst="rect">
            <a:avLst/>
          </a:prstGeom>
          <a:solidFill>
            <a:srgbClr val="0596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93852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Nginx + FastAPI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2276856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:443 → localhost :8080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modules · API · audit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15784" y="1143000"/>
            <a:ext cx="2423160" cy="868680"/>
          </a:xfrm>
          <a:prstGeom prst="roundRect">
            <a:avLst>
              <a:gd name="adj" fmla="val 8421"/>
            </a:avLst>
          </a:prstGeom>
          <a:solidFill>
            <a:srgbClr val="172033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15784" y="1143000"/>
            <a:ext cx="73152" cy="868680"/>
          </a:xfrm>
          <a:prstGeom prst="rect">
            <a:avLst/>
          </a:prstGeom>
          <a:solidFill>
            <a:srgbClr val="E11D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1316736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IAM Identity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26096" y="165506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OIDC · MFA · RBAC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15784" y="2395728"/>
            <a:ext cx="2423160" cy="868680"/>
          </a:xfrm>
          <a:prstGeom prst="roundRect">
            <a:avLst>
              <a:gd name="adj" fmla="val 8421"/>
            </a:avLst>
          </a:prstGeom>
          <a:solidFill>
            <a:srgbClr val="172033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5784" y="2395728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26096" y="256946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Price List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626096" y="2907792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versioned catalog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15784" y="3648456"/>
            <a:ext cx="2423160" cy="868680"/>
          </a:xfrm>
          <a:prstGeom prst="roundRect">
            <a:avLst>
              <a:gd name="adj" fmla="val 8421"/>
            </a:avLst>
          </a:prstGeom>
          <a:solidFill>
            <a:srgbClr val="172033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15784" y="3648456"/>
            <a:ext cx="73152" cy="868680"/>
          </a:xfrm>
          <a:prstGeom prst="rect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6096" y="3822192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Usage / Cost API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626096" y="416052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daily cost · usage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18688" y="4782312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172033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18688" y="4782312"/>
            <a:ext cx="73152" cy="1051560"/>
          </a:xfrm>
          <a:prstGeom prst="rect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29000" y="495604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ADBHERMES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429000" y="5294376"/>
            <a:ext cx="32461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business schema · audit · AI metadata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mTLS Wallet · 60-day backup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58368" y="43891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" y="4389120"/>
            <a:ext cx="73152" cy="914400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45628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Account Import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68680" y="490118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XLSX / CSV · validate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679192" y="2423160"/>
            <a:ext cx="50292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839712" y="2359152"/>
            <a:ext cx="502920" cy="0"/>
          </a:xfrm>
          <a:prstGeom prst="line">
            <a:avLst/>
          </a:prstGeom>
          <a:noFill/>
          <a:ln w="25400">
            <a:solidFill>
              <a:srgbClr val="E11D4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839712" y="2834640"/>
            <a:ext cx="50292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839712" y="4078224"/>
            <a:ext cx="502920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029200" y="3054096"/>
            <a:ext cx="0" cy="1700784"/>
          </a:xfrm>
          <a:prstGeom prst="line">
            <a:avLst/>
          </a:prstGeom>
          <a:noFill/>
          <a:ln w="25400">
            <a:solidFill>
              <a:srgbClr val="05966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2679192" y="4846320"/>
            <a:ext cx="50292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966960" y="5897880"/>
            <a:ext cx="1581912" cy="274320"/>
          </a:xfrm>
          <a:prstGeom prst="roundRect">
            <a:avLst>
              <a:gd name="adj" fmla="val 4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021824" y="5916168"/>
            <a:ext cx="14721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SEOUL · PHILLSOO.LIM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21792" y="651052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Astra · OCI Integrated Sales Platform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109960" y="647395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 · DATA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658368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업무별 스키마, 공통 감사·버전 기준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11978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 모듈별로 나누되 Account와 사용자·기간 축으로 연결합니다.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1792" y="1746504"/>
            <a:ext cx="3438144" cy="1783080"/>
          </a:xfrm>
          <a:prstGeom prst="roundRect">
            <a:avLst>
              <a:gd name="adj" fmla="val 4103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84248"/>
            <a:ext cx="420624" cy="420624"/>
          </a:xfrm>
          <a:prstGeom prst="ellipse">
            <a:avLst/>
          </a:prstGeom>
          <a:solidFill>
            <a:srgbClr val="C7463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07568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89888" y="19933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77824" y="2523744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CRM_ACCOUNTS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877824" y="2816352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CRM_OPPORTUNITIES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877824" y="3108960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CRM_ACTIVITIES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4389120" y="1746504"/>
            <a:ext cx="3438144" cy="1783080"/>
          </a:xfrm>
          <a:prstGeom prst="roundRect">
            <a:avLst>
              <a:gd name="adj" fmla="val 4103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08576" y="1984248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8576" y="207568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157216" y="19933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QUOTE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45152" y="2523744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PRICE_CATALOG_VERSIONS</a:t>
            </a:r>
            <a:endParaRPr lang="en-US" sz="960" dirty="0"/>
          </a:p>
        </p:txBody>
      </p:sp>
      <p:sp>
        <p:nvSpPr>
          <p:cNvPr id="17" name="Text 15"/>
          <p:cNvSpPr/>
          <p:nvPr/>
        </p:nvSpPr>
        <p:spPr>
          <a:xfrm>
            <a:off x="4645152" y="2816352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PRICE_ITEMS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4645152" y="3108960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QUOTES / QUOTE_LINES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8156448" y="1746504"/>
            <a:ext cx="3438144" cy="1783080"/>
          </a:xfrm>
          <a:prstGeom prst="roundRect">
            <a:avLst>
              <a:gd name="adj" fmla="val 4103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75904" y="1984248"/>
            <a:ext cx="420624" cy="42062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75904" y="207568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24544" y="19933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USAGE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412480" y="2523744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USAGE_DAILY</a:t>
            </a:r>
            <a:endParaRPr lang="en-US" sz="960" dirty="0"/>
          </a:p>
        </p:txBody>
      </p:sp>
      <p:sp>
        <p:nvSpPr>
          <p:cNvPr id="24" name="Text 22"/>
          <p:cNvSpPr/>
          <p:nvPr/>
        </p:nvSpPr>
        <p:spPr>
          <a:xfrm>
            <a:off x="8412480" y="2816352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USAGE_SYNC_RUNS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8412480" y="3108960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COST DIMENSIONS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21792" y="3904488"/>
            <a:ext cx="343814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248" y="4142232"/>
            <a:ext cx="420624" cy="42062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4233672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89888" y="41513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REPORT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77824" y="4681728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WEEKLY_REPORTS</a:t>
            </a:r>
            <a:endParaRPr lang="en-US" sz="960" dirty="0"/>
          </a:p>
        </p:txBody>
      </p:sp>
      <p:sp>
        <p:nvSpPr>
          <p:cNvPr id="31" name="Text 29"/>
          <p:cNvSpPr/>
          <p:nvPr/>
        </p:nvSpPr>
        <p:spPr>
          <a:xfrm>
            <a:off x="877824" y="4974336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WEEKLY_REPORT_ITEMS</a:t>
            </a:r>
            <a:endParaRPr lang="en-US" sz="960" dirty="0"/>
          </a:p>
        </p:txBody>
      </p:sp>
      <p:sp>
        <p:nvSpPr>
          <p:cNvPr id="32" name="Text 30"/>
          <p:cNvSpPr/>
          <p:nvPr/>
        </p:nvSpPr>
        <p:spPr>
          <a:xfrm>
            <a:off x="877824" y="5266944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REVISION STATUS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4389120" y="3904488"/>
            <a:ext cx="343814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8576" y="4142232"/>
            <a:ext cx="420624" cy="42062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08576" y="4233672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57216" y="41513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645152" y="4681728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DEMO_ITEMS</a:t>
            </a:r>
            <a:endParaRPr lang="en-US" sz="960" dirty="0"/>
          </a:p>
        </p:txBody>
      </p:sp>
      <p:sp>
        <p:nvSpPr>
          <p:cNvPr id="38" name="Text 36"/>
          <p:cNvSpPr/>
          <p:nvPr/>
        </p:nvSpPr>
        <p:spPr>
          <a:xfrm>
            <a:off x="4645152" y="4974336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DEMO_CATEGORIES</a:t>
            </a:r>
            <a:endParaRPr lang="en-US" sz="960" dirty="0"/>
          </a:p>
        </p:txBody>
      </p:sp>
      <p:sp>
        <p:nvSpPr>
          <p:cNvPr id="39" name="Text 37"/>
          <p:cNvSpPr/>
          <p:nvPr/>
        </p:nvSpPr>
        <p:spPr>
          <a:xfrm>
            <a:off x="4645152" y="5266944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ALLOWLIST LINKS</a:t>
            </a:r>
            <a:endParaRPr lang="en-US" sz="960" dirty="0"/>
          </a:p>
        </p:txBody>
      </p:sp>
      <p:sp>
        <p:nvSpPr>
          <p:cNvPr id="40" name="Shape 38"/>
          <p:cNvSpPr/>
          <p:nvPr/>
        </p:nvSpPr>
        <p:spPr>
          <a:xfrm>
            <a:off x="8156448" y="3904488"/>
            <a:ext cx="343814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75904" y="4142232"/>
            <a:ext cx="420624" cy="420624"/>
          </a:xfrm>
          <a:prstGeom prst="ellipse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75904" y="4233672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924544" y="41513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COMMON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412480" y="4681728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AUDIT_EVENTS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8412480" y="4974336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APP_USERS / ROLES</a:t>
            </a:r>
            <a:endParaRPr lang="en-US" sz="960" dirty="0"/>
          </a:p>
        </p:txBody>
      </p:sp>
      <p:sp>
        <p:nvSpPr>
          <p:cNvPr id="46" name="Text 44"/>
          <p:cNvSpPr/>
          <p:nvPr/>
        </p:nvSpPr>
        <p:spPr>
          <a:xfrm>
            <a:off x="8412480" y="5266944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MIGRATION_JOURNAL</a:t>
            </a:r>
            <a:endParaRPr lang="en-US" sz="960" dirty="0"/>
          </a:p>
        </p:txBody>
      </p:sp>
      <p:sp>
        <p:nvSpPr>
          <p:cNvPr id="47" name="Shape 45"/>
          <p:cNvSpPr/>
          <p:nvPr/>
        </p:nvSpPr>
        <p:spPr>
          <a:xfrm>
            <a:off x="621792" y="6016752"/>
            <a:ext cx="10972800" cy="292608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8680" y="6089904"/>
            <a:ext cx="10424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원칙  |  PK/FK · UTC timestamp · Decimal 금액 · soft archive · source/effective/ingested time · audit</a:t>
            </a:r>
            <a:endParaRPr lang="en-US" sz="1020" dirty="0"/>
          </a:p>
        </p:txBody>
      </p:sp>
      <p:sp>
        <p:nvSpPr>
          <p:cNvPr id="49" name="Text 47"/>
          <p:cNvSpPr/>
          <p:nvPr/>
        </p:nvSpPr>
        <p:spPr>
          <a:xfrm>
            <a:off x="621792" y="651052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Astra · OCI Integrated Sales Platform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109960" y="647395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 · MODULE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658368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CRM — 최소 입력으로 Account 실행력을 높입니다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11978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252개 Account를 시작점으로 상태·관계·기회·다음 행동을 연결합니다.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1792" y="1847088"/>
            <a:ext cx="1956816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075688"/>
            <a:ext cx="420624" cy="420624"/>
          </a:xfrm>
          <a:prstGeom prst="ellipse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16712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44168" y="206654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63347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XLSX 검증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중복 통제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78608" y="2523744"/>
            <a:ext cx="320040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98648" y="1847088"/>
            <a:ext cx="1956816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81528" y="2075688"/>
            <a:ext cx="420624" cy="42062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81528" y="216712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21024" y="206654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Enrich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081528" y="263347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산업·OCI강점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추천/승인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55464" y="2523744"/>
            <a:ext cx="320040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175504" y="1847088"/>
            <a:ext cx="1956816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58384" y="2075688"/>
            <a:ext cx="420624" cy="42062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58384" y="216712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97880" y="206654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Engage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58384" y="263347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활동·관계자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0" y="2523744"/>
            <a:ext cx="320040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452360" y="1847088"/>
            <a:ext cx="1956816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35240" y="2075688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35240" y="216712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174736" y="206654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Convert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635240" y="263347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Opportunity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Stage/Forecast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409176" y="2523744"/>
            <a:ext cx="320040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729216" y="1847088"/>
            <a:ext cx="1956816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12096" y="2075688"/>
            <a:ext cx="420624" cy="420624"/>
          </a:xfrm>
          <a:prstGeom prst="ellipse">
            <a:avLst/>
          </a:prstGeom>
          <a:solidFill>
            <a:srgbClr val="C7463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912096" y="216712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451592" y="206654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Coach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912096" y="263347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Risk·Next Best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1792" y="3721608"/>
            <a:ext cx="3017520" cy="310896"/>
          </a:xfrm>
          <a:prstGeom prst="roundRect">
            <a:avLst>
              <a:gd name="adj" fmla="val 17647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3758184"/>
            <a:ext cx="2798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MVP SCREEN SET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21792" y="4169664"/>
            <a:ext cx="3438144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7824" y="44348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Account Cockpit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77824" y="4892040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Tier · Play · Health · Next Action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89120" y="4169664"/>
            <a:ext cx="3438144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45152" y="44348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Opportunity Board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645152" y="4892040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Stage · Amount · Close · Forecast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156448" y="4169664"/>
            <a:ext cx="3438144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12480" y="44348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Manager View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412480" y="4892040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Coverage · Risk · Hygiene · Rep load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21792" y="5916168"/>
            <a:ext cx="2157984" cy="274320"/>
          </a:xfrm>
          <a:prstGeom prst="roundRect">
            <a:avLst>
              <a:gd name="adj" fmla="val 40000"/>
            </a:avLst>
          </a:prstGeom>
          <a:solidFill>
            <a:srgbClr val="FBE9E5"/>
          </a:solidFill>
          <a:ln w="12700">
            <a:solidFill>
              <a:srgbClr val="FBE9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6656" y="5934456"/>
            <a:ext cx="20482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Customer names stay private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944368" y="595274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GitHub에는 import template과 집계만 포함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1792" y="651052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Astra · OCI Integrated Sales Platform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1109960" y="647395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 · MODULE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658368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Quote — 가격의 “최신성”을 시스템이 증명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11978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가격을 고정값으로 복사하지 않고 공식 Source → Version → Quote Snapshot으로 연결합니다.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8368" y="1792224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7510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250545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COLLECT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95351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Price List/API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822960" y="3502152"/>
            <a:ext cx="1417320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520440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source_time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78608" y="2779776"/>
            <a:ext cx="310896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926080" y="1792224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90672" y="197510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090672" y="250545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NORMALIZE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90672" y="295351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· Unit · Currency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3090672" y="3502152"/>
            <a:ext cx="1417320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45536" y="3520440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catalog_version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46320" y="2779776"/>
            <a:ext cx="310896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93792" y="1792224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58384" y="197510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358384" y="250545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PRICE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58384" y="295351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수량 · 기간 · 할인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5358384" y="3502152"/>
            <a:ext cx="1417320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3248" y="3520440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Decimal rules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114032" y="2779776"/>
            <a:ext cx="310896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461504" y="1792224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26096" y="197510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7626096" y="250545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SNAPSHOT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626096" y="295351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견적 시점 가격 고정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7626096" y="3502152"/>
            <a:ext cx="1417320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80960" y="3520440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effective_time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381744" y="2779776"/>
            <a:ext cx="310896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729216" y="1792224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93808" y="197510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893808" y="250545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APPROVE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893808" y="295351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정책·유효기간·PDF</a:t>
            </a:r>
            <a:endParaRPr lang="en-US" sz="1030" dirty="0"/>
          </a:p>
        </p:txBody>
      </p:sp>
      <p:sp>
        <p:nvSpPr>
          <p:cNvPr id="37" name="Shape 35"/>
          <p:cNvSpPr/>
          <p:nvPr/>
        </p:nvSpPr>
        <p:spPr>
          <a:xfrm>
            <a:off x="9893808" y="3502152"/>
            <a:ext cx="1417320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48672" y="3520440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58368" y="4306824"/>
            <a:ext cx="7095744" cy="1417320"/>
          </a:xfrm>
          <a:prstGeom prst="roundRect">
            <a:avLst>
              <a:gd name="adj" fmla="val 5161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32688" y="45902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Quote Formula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32688" y="4974336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Line Total = Unit Price × Quantity × Term × (1 − Discount)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7991856" y="4306824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66176" y="45902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E2F2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Stale Price Guard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266176" y="4965192"/>
            <a:ext cx="2816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version · currency · unit · effective time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 하나라도 누락되면 견적 확정 차단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21792" y="651052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Astra · OCI Integrated Sales Platform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1109960" y="647395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 · MODULE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658368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Consumption — 비용과 사용량을 같은 축으로 조회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11978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Usage API를 일 단위로 수집하고 지연·통화·태그 품질을 함께 표시합니다.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1792" y="1783080"/>
            <a:ext cx="7040880" cy="3950208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Consumption Cockpit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67919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Compute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938528" y="2706624"/>
            <a:ext cx="4206240" cy="164592"/>
          </a:xfrm>
          <a:prstGeom prst="rect">
            <a:avLst/>
          </a:prstGeom>
          <a:solidFill>
            <a:srgbClr val="EEF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38528" y="2706624"/>
            <a:ext cx="3449117" cy="164592"/>
          </a:xfrm>
          <a:prstGeom prst="rect">
            <a:avLst/>
          </a:prstGeom>
          <a:solidFill>
            <a:srgbClr val="C7463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27648" y="267919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82%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326440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938528" y="3291840"/>
            <a:ext cx="4206240" cy="164592"/>
          </a:xfrm>
          <a:prstGeom prst="rect">
            <a:avLst/>
          </a:prstGeom>
          <a:solidFill>
            <a:srgbClr val="EEF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38528" y="3291840"/>
            <a:ext cx="2649931" cy="164592"/>
          </a:xfrm>
          <a:prstGeom prst="rect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7648" y="326440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63%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14400" y="384962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938528" y="3877056"/>
            <a:ext cx="4206240" cy="164592"/>
          </a:xfrm>
          <a:prstGeom prst="rect">
            <a:avLst/>
          </a:prstGeom>
          <a:solidFill>
            <a:srgbClr val="EEF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38528" y="3877056"/>
            <a:ext cx="1430122" cy="164592"/>
          </a:xfrm>
          <a:prstGeom prst="rect">
            <a:avLst/>
          </a:prstGeom>
          <a:solidFill>
            <a:srgbClr val="0891B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384962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14400" y="443484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Storage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38528" y="4462272"/>
            <a:ext cx="4206240" cy="164592"/>
          </a:xfrm>
          <a:prstGeom prst="rect">
            <a:avLst/>
          </a:prstGeom>
          <a:solidFill>
            <a:srgbClr val="EEF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38528" y="4462272"/>
            <a:ext cx="2018995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27648" y="4434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48%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96112" y="5084064"/>
            <a:ext cx="6254496" cy="356616"/>
          </a:xfrm>
          <a:prstGeom prst="roundRect">
            <a:avLst>
              <a:gd name="adj" fmla="val 20513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5184648"/>
            <a:ext cx="5943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Actual Cost · Forecast · Budget Gap · Service Mix · Top Compartments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7973568" y="1792224"/>
            <a:ext cx="360273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93024" y="1956816"/>
            <a:ext cx="420624" cy="42062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93024" y="2048256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41664" y="1947672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Idempotent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784080" y="193852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usage key 재수집 시 upsert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973568" y="2761488"/>
            <a:ext cx="360273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93024" y="2926080"/>
            <a:ext cx="420624" cy="42062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93024" y="3017520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741664" y="2916936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Freshness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784080" y="2907792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source와 ingestion 시각 분리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7973568" y="3730752"/>
            <a:ext cx="360273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93024" y="3895344"/>
            <a:ext cx="420624" cy="42062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93024" y="3986784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741664" y="3886200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Dimension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784080" y="387705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service · region · compartment · tag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973568" y="4700016"/>
            <a:ext cx="360273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93024" y="4864608"/>
            <a:ext cx="420624" cy="420624"/>
          </a:xfrm>
          <a:prstGeom prst="ellipse">
            <a:avLst/>
          </a:prstGeom>
          <a:solidFill>
            <a:srgbClr val="C7463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93024" y="495604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41664" y="4855464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Alert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784080" y="484632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임계는 알림, 자동 삭제 금지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7973568" y="5568696"/>
            <a:ext cx="1078992" cy="274320"/>
          </a:xfrm>
          <a:prstGeom prst="roundRect">
            <a:avLst>
              <a:gd name="adj" fmla="val 4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28432" y="5586984"/>
            <a:ext cx="9692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Usage API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162288" y="5568696"/>
            <a:ext cx="1078992" cy="274320"/>
          </a:xfrm>
          <a:prstGeom prst="roundRect">
            <a:avLst>
              <a:gd name="adj" fmla="val 4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17152" y="5586984"/>
            <a:ext cx="9692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Daily Sync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0351008" y="5568696"/>
            <a:ext cx="1078992" cy="274320"/>
          </a:xfrm>
          <a:prstGeom prst="roundRect">
            <a:avLst>
              <a:gd name="adj" fmla="val 4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405872" y="5586984"/>
            <a:ext cx="9692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UTC → KST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21792" y="651052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Astra · OCI Integrated Sales Platform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11109960" y="647395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 · MODULE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658368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Weekly Report — 작성보다 재사용과 추적에 집중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11978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CRM·Consumption 데이터를 불러오고 사람은 판단·이슈·다음 주 계획만 보완합니다.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1792" y="1874520"/>
            <a:ext cx="2496312" cy="1426464"/>
          </a:xfrm>
          <a:prstGeom prst="roundRect">
            <a:avLst>
              <a:gd name="adj" fmla="val 5128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213969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DRAFT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265176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초안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성과·활동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18104" y="2578608"/>
            <a:ext cx="310896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38144" y="1874520"/>
            <a:ext cx="2496312" cy="1426464"/>
          </a:xfrm>
          <a:prstGeom prst="roundRect">
            <a:avLst>
              <a:gd name="adj" fmla="val 5128"/>
            </a:avLst>
          </a:prstGeom>
          <a:solidFill>
            <a:srgbClr val="E0F2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66744" y="213969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SUBMITTED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66744" y="265176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제출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코멘트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34456" y="2578608"/>
            <a:ext cx="310896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54496" y="1874520"/>
            <a:ext cx="2496312" cy="1426464"/>
          </a:xfrm>
          <a:prstGeom prst="roundRect">
            <a:avLst>
              <a:gd name="adj" fmla="val 5128"/>
            </a:avLst>
          </a:prstGeom>
          <a:solidFill>
            <a:srgbClr val="EDE9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83096" y="213969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REVIEWED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83096" y="265176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Manager 검토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Gap/지원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50808" y="2578608"/>
            <a:ext cx="310896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070848" y="1874520"/>
            <a:ext cx="2496312" cy="1426464"/>
          </a:xfrm>
          <a:prstGeom prst="roundRect">
            <a:avLst>
              <a:gd name="adj" fmla="val 5128"/>
            </a:avLst>
          </a:prstGeom>
          <a:solidFill>
            <a:srgbClr val="D1FAE5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99448" y="213969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APPROVED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99448" y="265176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주간 기준선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Snapshot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" y="3822192"/>
            <a:ext cx="3401568" cy="310896"/>
          </a:xfrm>
          <a:prstGeom prst="roundRect">
            <a:avLst>
              <a:gd name="adj" fmla="val 1764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858768"/>
            <a:ext cx="3182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AUTO-FILL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3232" y="4251960"/>
            <a:ext cx="420624" cy="420624"/>
          </a:xfrm>
          <a:prstGeom prst="ellipse">
            <a:avLst/>
          </a:prstGeom>
          <a:solidFill>
            <a:srgbClr val="C7463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4343400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71016" y="427939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057400" y="427939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Account 변화 · Opportunity · Next Action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13232" y="4764024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855464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271016" y="479145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Quote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057400" y="4791456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신규/수정 견적 · 유효기간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3232" y="5276088"/>
            <a:ext cx="420624" cy="42062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536752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271016" y="53035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Consumption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057400" y="5303520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주간 사용량 · 비용 · 이상치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33872" y="3822192"/>
            <a:ext cx="3401568" cy="310896"/>
          </a:xfrm>
          <a:prstGeom prst="roundRect">
            <a:avLst>
              <a:gd name="adj" fmla="val 17647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858768"/>
            <a:ext cx="3182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HUMAN JUDGMENT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925312" y="4251960"/>
            <a:ext cx="420624" cy="420624"/>
          </a:xfrm>
          <a:prstGeom prst="ellipse">
            <a:avLst/>
          </a:prstGeom>
          <a:solidFill>
            <a:srgbClr val="C7463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25312" y="4343400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92240" y="427939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고객/내부 이슈와 지원 요청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925312" y="4764024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25312" y="4855464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92240" y="47914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주 우선순위와 의사결정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925312" y="5276088"/>
            <a:ext cx="420624" cy="42062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25312" y="536752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492240" y="530352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Risk/Blocker owner와 due date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098280" y="5696712"/>
            <a:ext cx="2103120" cy="274320"/>
          </a:xfrm>
          <a:prstGeom prst="roundRect">
            <a:avLst>
              <a:gd name="adj" fmla="val 40000"/>
            </a:avLst>
          </a:prstGeom>
          <a:solidFill>
            <a:srgbClr val="FBE9E5"/>
          </a:solidFill>
          <a:ln w="12700">
            <a:solidFill>
              <a:srgbClr val="FBE9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53144" y="5715000"/>
            <a:ext cx="19933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후 수정 = 새 Revision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21792" y="651052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Astra · OCI Integrated Sales Platform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1109960" y="647395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· MODULE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658368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 Gallery — 반복 가능한 데모 자산 관리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11978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설명·준비물·담당자·상태·실행 링크를 표준화하고 운영 데이터와 격리합니다.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1792" y="1810512"/>
            <a:ext cx="3438144" cy="2121408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2112264"/>
            <a:ext cx="621792" cy="621792"/>
          </a:xfrm>
          <a:prstGeom prst="ellipse">
            <a:avLst/>
          </a:prstGeom>
          <a:solidFill>
            <a:srgbClr val="C7463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322576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700784" y="2075688"/>
            <a:ext cx="1938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Overview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96112" y="2962656"/>
            <a:ext cx="2761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Landing Zone · Network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Compute · Security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60704" y="3529584"/>
            <a:ext cx="2560320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3547872"/>
            <a:ext cx="2450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READY · REVIEW · RETIRED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89120" y="1810512"/>
            <a:ext cx="3438144" cy="2121408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45152" y="2112264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2322576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68112" y="2075688"/>
            <a:ext cx="1938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Autonomous AI DB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63440" y="2962656"/>
            <a:ext cx="2761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Select AI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Select AI Agent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28032" y="3529584"/>
            <a:ext cx="2560320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2896" y="3547872"/>
            <a:ext cx="2450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READY · REVIEW · RETIRED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56448" y="1810512"/>
            <a:ext cx="3438144" cy="2121408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0" y="2112264"/>
            <a:ext cx="621792" cy="62179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2322576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235440" y="2075688"/>
            <a:ext cx="1938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891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Data Platform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430768" y="2962656"/>
            <a:ext cx="2761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Ingest · Vector · RAG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Analytics · Governance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595360" y="3529584"/>
            <a:ext cx="2560320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50224" y="3547872"/>
            <a:ext cx="2450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READY · REVIEW · RETIRED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1792" y="4407408"/>
            <a:ext cx="5321808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" y="4507992"/>
            <a:ext cx="420624" cy="42062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4599432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35024" y="452628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Isolation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377440" y="4517136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 schema/credential을 운영 CRM과 분리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72784" y="4407408"/>
            <a:ext cx="5321808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37376" y="4507992"/>
            <a:ext cx="420624" cy="420624"/>
          </a:xfrm>
          <a:prstGeom prst="ellipse">
            <a:avLst/>
          </a:prstGeom>
          <a:solidFill>
            <a:srgbClr val="C7463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37376" y="4599432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86016" y="452628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Allowlist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028432" y="4517136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URL·이미지·실행 링크 검증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" y="5193792"/>
            <a:ext cx="5321808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86384" y="5294376"/>
            <a:ext cx="420624" cy="42062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5385816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335024" y="531266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Runbook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377440" y="5303520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준비·실행·복구·비용·담당자 기록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72784" y="5193792"/>
            <a:ext cx="5321808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37376" y="5294376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37376" y="5385816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986016" y="531266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Audit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8028432" y="5303520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언제 어떤 Demo를 실행했는지 추적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21792" y="651052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Astra · OCI Integrated Sales Platform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1109960" y="647395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· SECURITY &amp; GOVERNANCE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68580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Public server를 “업무 시스템” 수준으로 올리는 조건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21792" y="12252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공개 포트를 그대로 둔 채 배포하지 않습니다.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1792" y="1792224"/>
            <a:ext cx="10972800" cy="585216"/>
          </a:xfrm>
          <a:prstGeom prst="roundRect">
            <a:avLst>
              <a:gd name="adj" fmla="val 12500"/>
            </a:avLst>
          </a:prstGeom>
          <a:solidFill>
            <a:srgbClr val="172033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938528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956816"/>
            <a:ext cx="8321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CRITICAL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011680" y="1938528"/>
            <a:ext cx="2331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 / 8765 / 3389 / 1521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26280" y="1938528"/>
            <a:ext cx="24688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0.0.0.0/0 공개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33488" y="19293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NSG·관리 CIDR·Bastion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" y="2542032"/>
            <a:ext cx="10972800" cy="585216"/>
          </a:xfrm>
          <a:prstGeom prst="roundRect">
            <a:avLst>
              <a:gd name="adj" fmla="val 125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688336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2706624"/>
            <a:ext cx="8321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011680" y="2688336"/>
            <a:ext cx="2331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Application TLS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26280" y="2688336"/>
            <a:ext cx="24688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80/443 미허용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33488" y="26791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443 only + certificate + HSTS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" y="3291840"/>
            <a:ext cx="10972800" cy="585216"/>
          </a:xfrm>
          <a:prstGeom prst="roundRect">
            <a:avLst>
              <a:gd name="adj" fmla="val 125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438144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456432"/>
            <a:ext cx="8321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011680" y="3438144"/>
            <a:ext cx="2331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Credential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26280" y="3438144"/>
            <a:ext cx="24688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HERMESUSER 미확인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33488" y="34290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Vault/secret file + least privilege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" y="4041648"/>
            <a:ext cx="10972800" cy="585216"/>
          </a:xfrm>
          <a:prstGeom prst="roundRect">
            <a:avLst>
              <a:gd name="adj" fmla="val 125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187952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4206240"/>
            <a:ext cx="8321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MEDIUM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011680" y="4187952"/>
            <a:ext cx="2331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Identity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26280" y="4187952"/>
            <a:ext cx="24688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인증 미구성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33488" y="417880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7E8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IAM OIDC · MFA · RBAC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" y="4791456"/>
            <a:ext cx="10972800" cy="585216"/>
          </a:xfrm>
          <a:prstGeom prst="roundRect">
            <a:avLst>
              <a:gd name="adj" fmla="val 125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4937760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" y="4956048"/>
            <a:ext cx="8321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MEDIUM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011680" y="4937760"/>
            <a:ext cx="2331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Audit &amp; Recovery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26280" y="4937760"/>
            <a:ext cx="24688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복구 시험 미확인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33488" y="49286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Audit trail · backup · rollback drill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1792" y="5861304"/>
            <a:ext cx="10972800" cy="329184"/>
          </a:xfrm>
          <a:prstGeom prst="roundRect">
            <a:avLst>
              <a:gd name="adj" fmla="val 22222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0392" y="5952744"/>
            <a:ext cx="10515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승인 게이트: SSH key · DB credential · TLS/DNS · 443/ingress · backup · reviewer · rollback owner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21792" y="651052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Astra · OCI Integrated Sales Platform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1109960" y="647395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· DEPLOYMENT TOPOLOGY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658368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Release를 교체하고, 문제가 생기면 링크를 되돌립니다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11978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애플리케이션은 localhost에만 bind하고 Nginx가 외부 TLS를 종료합니다.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1792" y="1783080"/>
            <a:ext cx="3438144" cy="1691640"/>
          </a:xfrm>
          <a:prstGeom prst="roundRect">
            <a:avLst>
              <a:gd name="adj" fmla="val 4324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2057400"/>
            <a:ext cx="420624" cy="420624"/>
          </a:xfrm>
          <a:prstGeom prst="ellipse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148840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44752" y="205740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PRE-FLIGHT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77824" y="2651760"/>
            <a:ext cx="2788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OS·disk·ports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Wallet·DB·backup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1783080"/>
            <a:ext cx="3438144" cy="1691640"/>
          </a:xfrm>
          <a:prstGeom prst="roundRect">
            <a:avLst>
              <a:gd name="adj" fmla="val 4324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26864" y="2057400"/>
            <a:ext cx="420624" cy="42062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2148840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12080" y="205740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RELEASE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45152" y="2651760"/>
            <a:ext cx="2788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/opt/hermes/releases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/&lt;version&gt;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56448" y="1783080"/>
            <a:ext cx="3438144" cy="1691640"/>
          </a:xfrm>
          <a:prstGeom prst="roundRect">
            <a:avLst>
              <a:gd name="adj" fmla="val 4324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4192" y="2057400"/>
            <a:ext cx="420624" cy="42062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2148840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979408" y="205740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VERIFY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12480" y="2651760"/>
            <a:ext cx="2788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pytest · compile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· DB smoke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" y="3840480"/>
            <a:ext cx="3438144" cy="1691640"/>
          </a:xfrm>
          <a:prstGeom prst="roundRect">
            <a:avLst>
              <a:gd name="adj" fmla="val 4324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" y="4114800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9536" y="4206240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44752" y="411480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SWITCH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77824" y="4709160"/>
            <a:ext cx="2788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current symlink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systemd reload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0" y="3840480"/>
            <a:ext cx="3438144" cy="1691640"/>
          </a:xfrm>
          <a:prstGeom prst="roundRect">
            <a:avLst>
              <a:gd name="adj" fmla="val 4324"/>
            </a:avLst>
          </a:prstGeom>
          <a:solidFill>
            <a:srgbClr val="F7F5F2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26864" y="4114800"/>
            <a:ext cx="420624" cy="42062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26864" y="4206240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212080" y="411480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OBSERVE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645152" y="4709160"/>
            <a:ext cx="2788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logs · health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module smoke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56448" y="3840480"/>
            <a:ext cx="3438144" cy="1691640"/>
          </a:xfrm>
          <a:prstGeom prst="roundRect">
            <a:avLst>
              <a:gd name="adj" fmla="val 4324"/>
            </a:avLst>
          </a:prstGeom>
          <a:solidFill>
            <a:srgbClr val="FBE9E5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94192" y="4114800"/>
            <a:ext cx="420624" cy="420624"/>
          </a:xfrm>
          <a:prstGeom prst="ellipse">
            <a:avLst/>
          </a:prstGeom>
          <a:solidFill>
            <a:srgbClr val="C7463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94192" y="4206240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979408" y="411480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ROLLBACK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412480" y="4709160"/>
            <a:ext cx="2788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previous symlink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restart · verify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1792" y="5934456"/>
            <a:ext cx="10972800" cy="301752"/>
          </a:xfrm>
          <a:prstGeom prst="roundRect">
            <a:avLst>
              <a:gd name="adj" fmla="val 24242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" y="6016752"/>
            <a:ext cx="10424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 패키지: preflight.sh · install.sh · verify.sh · rollback.sh · systemd · nginx · DB migration journal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1792" y="651052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Astra · OCI Integrated Sales Platform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1109960" y="647395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·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658368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MVP — 업무 가치 순서로 위험을 줄입니다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21792" y="11978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단계는 독립 검증과 Go/No-Go를 통과해야 다음 단계로 진행합니다.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03504" y="1856232"/>
            <a:ext cx="1627632" cy="310896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2075688"/>
            <a:ext cx="457200" cy="457200"/>
          </a:xfrm>
          <a:prstGeom prst="ellipse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221992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096" y="2770632"/>
            <a:ext cx="12618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Guardrails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8096" y="3246120"/>
            <a:ext cx="685800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264408"/>
            <a:ext cx="576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8096" y="3867912"/>
            <a:ext cx="1298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권한·데이터·보안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Definition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31136" y="3410712"/>
            <a:ext cx="265176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96312" y="1856232"/>
            <a:ext cx="1627632" cy="310896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60904" y="2075688"/>
            <a:ext cx="457200" cy="4572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60904" y="2221992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60904" y="2770632"/>
            <a:ext cx="12618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Foundation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2660904" y="3246120"/>
            <a:ext cx="685800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15768" y="3264408"/>
            <a:ext cx="576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2–3주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660904" y="3867912"/>
            <a:ext cx="1298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 Shell · ADB schema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IAM · audit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23944" y="3410712"/>
            <a:ext cx="265176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389120" y="1856232"/>
            <a:ext cx="1627632" cy="310896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3712" y="2075688"/>
            <a:ext cx="457200" cy="457200"/>
          </a:xfrm>
          <a:prstGeom prst="ellipse">
            <a:avLst/>
          </a:prstGeom>
          <a:solidFill>
            <a:srgbClr val="C7463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2221992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53712" y="2770632"/>
            <a:ext cx="12618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4553712" y="3246120"/>
            <a:ext cx="685800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08576" y="3264408"/>
            <a:ext cx="576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4–6주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53712" y="3867912"/>
            <a:ext cx="1298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CRM · Weekly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Account import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16752" y="3410712"/>
            <a:ext cx="265176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281928" y="1856232"/>
            <a:ext cx="1627632" cy="310896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46520" y="2075688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46520" y="2221992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2770632"/>
            <a:ext cx="12618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Economics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446520" y="3246120"/>
            <a:ext cx="685800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01384" y="3264408"/>
            <a:ext cx="576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7–9주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46520" y="3867912"/>
            <a:ext cx="1298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Price/Quote · Usage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version/freshness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909560" y="3410712"/>
            <a:ext cx="265176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174736" y="1856232"/>
            <a:ext cx="1627632" cy="310896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39328" y="2075688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39328" y="2221992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39328" y="2770632"/>
            <a:ext cx="12618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Showcase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8339328" y="3246120"/>
            <a:ext cx="685800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94192" y="3264408"/>
            <a:ext cx="576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10주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339328" y="3867912"/>
            <a:ext cx="1298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 Gallery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demo isolation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9802368" y="3410712"/>
            <a:ext cx="265176" cy="0"/>
          </a:xfrm>
          <a:prstGeom prst="line">
            <a:avLst/>
          </a:prstGeom>
          <a:noFill/>
          <a:ln w="25400">
            <a:solidFill>
              <a:srgbClr val="D7DDE5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10067544" y="1856232"/>
            <a:ext cx="1627632" cy="310896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232136" y="2075688"/>
            <a:ext cx="457200" cy="45720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232136" y="2221992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0232136" y="2770632"/>
            <a:ext cx="12618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Go-live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0232136" y="3246120"/>
            <a:ext cx="685800" cy="274320"/>
          </a:xfrm>
          <a:prstGeom prst="roundRect">
            <a:avLst>
              <a:gd name="adj" fmla="val 4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287000" y="3264408"/>
            <a:ext cx="576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11–12주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32136" y="3867912"/>
            <a:ext cx="1298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UAT · 교육 · DR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인수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" y="5340096"/>
            <a:ext cx="2084832" cy="310896"/>
          </a:xfrm>
          <a:prstGeom prst="roundRect">
            <a:avLst>
              <a:gd name="adj" fmla="val 1764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5376672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SUCCESS METRICS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907792" y="5358384"/>
            <a:ext cx="1536192" cy="274320"/>
          </a:xfrm>
          <a:prstGeom prst="roundRect">
            <a:avLst>
              <a:gd name="adj" fmla="val 4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962656" y="5376672"/>
            <a:ext cx="14264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CRM hygiene ≥ 90%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08576" y="5358384"/>
            <a:ext cx="1536192" cy="274320"/>
          </a:xfrm>
          <a:prstGeom prst="roundRect">
            <a:avLst>
              <a:gd name="adj" fmla="val 4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63440" y="5376672"/>
            <a:ext cx="14264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E2F2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 version 100%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9360" y="5358384"/>
            <a:ext cx="1536192" cy="274320"/>
          </a:xfrm>
          <a:prstGeom prst="roundRect">
            <a:avLst>
              <a:gd name="adj" fmla="val 4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64224" y="5376672"/>
            <a:ext cx="14264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Usage freshness 표시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8010144" y="5358384"/>
            <a:ext cx="1536192" cy="274320"/>
          </a:xfrm>
          <a:prstGeom prst="roundRect">
            <a:avLst>
              <a:gd name="adj" fmla="val 4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065008" y="5376672"/>
            <a:ext cx="14264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Weekly 제출률 ≥ 95%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9710928" y="5358384"/>
            <a:ext cx="1536192" cy="274320"/>
          </a:xfrm>
          <a:prstGeom prst="roundRect">
            <a:avLst>
              <a:gd name="adj" fmla="val 40000"/>
            </a:avLst>
          </a:prstGeom>
          <a:solidFill>
            <a:srgbClr val="FBE9E5"/>
          </a:solidFill>
          <a:ln w="12700">
            <a:solidFill>
              <a:srgbClr val="FBE9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765792" y="5376672"/>
            <a:ext cx="14264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Rollback ≤ 10분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21792" y="651052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Astra · OCI Integrated Sales Platform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109960" y="647395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746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00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 · DEPLOYMENT READINESS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6949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준비는 진행 중, 운영 변경은 승인 대기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1792" y="1517904"/>
            <a:ext cx="5321808" cy="950976"/>
          </a:xfrm>
          <a:prstGeom prst="roundRect">
            <a:avLst>
              <a:gd name="adj" fmla="val 7692"/>
            </a:avLst>
          </a:prstGeom>
          <a:solidFill>
            <a:srgbClr val="172033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55648"/>
            <a:ext cx="914400" cy="274320"/>
          </a:xfrm>
          <a:prstGeom prst="roundRect">
            <a:avLst>
              <a:gd name="adj" fmla="val 4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773936"/>
            <a:ext cx="8046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947672" y="1700784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OCI/ADB discovery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694176" y="16733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ADBHERMES Wallet · driver · TCPS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6263640" y="1517904"/>
            <a:ext cx="5321808" cy="950976"/>
          </a:xfrm>
          <a:prstGeom prst="roundRect">
            <a:avLst>
              <a:gd name="adj" fmla="val 7692"/>
            </a:avLst>
          </a:prstGeom>
          <a:solidFill>
            <a:srgbClr val="172033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755648"/>
            <a:ext cx="914400" cy="274320"/>
          </a:xfrm>
          <a:prstGeom prst="roundRect">
            <a:avLst>
              <a:gd name="adj" fmla="val 4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1773936"/>
            <a:ext cx="8046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589520" y="1700784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Account baseline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36024" y="16733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252개 · data quality 집계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621792" y="2752344"/>
            <a:ext cx="5321808" cy="950976"/>
          </a:xfrm>
          <a:prstGeom prst="roundRect">
            <a:avLst>
              <a:gd name="adj" fmla="val 7692"/>
            </a:avLst>
          </a:prstGeom>
          <a:solidFill>
            <a:srgbClr val="172033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990088"/>
            <a:ext cx="914400" cy="274320"/>
          </a:xfrm>
          <a:prstGeom prst="roundRect">
            <a:avLst>
              <a:gd name="adj" fmla="val 4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3008376"/>
            <a:ext cx="8046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47672" y="2935224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Deploy package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694176" y="29077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 · DDL · release/rollback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6263640" y="2752344"/>
            <a:ext cx="5321808" cy="950976"/>
          </a:xfrm>
          <a:prstGeom prst="roundRect">
            <a:avLst>
              <a:gd name="adj" fmla="val 7692"/>
            </a:avLst>
          </a:prstGeom>
          <a:solidFill>
            <a:srgbClr val="172033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2990088"/>
            <a:ext cx="914400" cy="274320"/>
          </a:xfrm>
          <a:prstGeom prst="roundRect">
            <a:avLst>
              <a:gd name="adj" fmla="val 4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19672" y="3008376"/>
            <a:ext cx="8046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589520" y="2935224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SSH access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336024" y="29077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private key / user path 필요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621792" y="3986784"/>
            <a:ext cx="5321808" cy="950976"/>
          </a:xfrm>
          <a:prstGeom prst="roundRect">
            <a:avLst>
              <a:gd name="adj" fmla="val 7692"/>
            </a:avLst>
          </a:prstGeom>
          <a:solidFill>
            <a:srgbClr val="172033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224528"/>
            <a:ext cx="914400" cy="274320"/>
          </a:xfrm>
          <a:prstGeom prst="roundRect">
            <a:avLst>
              <a:gd name="adj" fmla="val 4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4242816"/>
            <a:ext cx="8046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947672" y="4169664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login &amp; grant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694176" y="4142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HERMESUSER credential + schema scope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6263640" y="3986784"/>
            <a:ext cx="5321808" cy="950976"/>
          </a:xfrm>
          <a:prstGeom prst="roundRect">
            <a:avLst>
              <a:gd name="adj" fmla="val 7692"/>
            </a:avLst>
          </a:prstGeom>
          <a:solidFill>
            <a:srgbClr val="172033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4224528"/>
            <a:ext cx="914400" cy="274320"/>
          </a:xfrm>
          <a:prstGeom prst="roundRect">
            <a:avLst>
              <a:gd name="adj" fmla="val 4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19672" y="4242816"/>
            <a:ext cx="8046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589520" y="4169664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 &amp; TLS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336024" y="4142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443/NSG · DNS · certificate 승인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621792" y="5541264"/>
            <a:ext cx="10972800" cy="530352"/>
          </a:xfrm>
          <a:prstGeom prst="roundRect">
            <a:avLst>
              <a:gd name="adj" fmla="val 13793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" y="5705856"/>
            <a:ext cx="10469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DECISION  |  SSH key · DB secret · 대상 schema · TLS/DNS · NSG 변경 · 유지보수 창을 승인하면 배포 실행</a:t>
            </a:r>
            <a:endParaRPr lang="en-US" sz="1140" dirty="0"/>
          </a:p>
        </p:txBody>
      </p:sp>
      <p:sp>
        <p:nvSpPr>
          <p:cNvPr id="36" name="Text 34"/>
          <p:cNvSpPr/>
          <p:nvPr/>
        </p:nvSpPr>
        <p:spPr>
          <a:xfrm>
            <a:off x="658368" y="631850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 production change executed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09960" y="631850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71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Nexus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OCI Integrated Sales Platform 구축 기획안</dc:title>
  <dc:subject>OCI Integrated Sales Platform</dc:subject>
  <dc:creator>Astra · Nexus IT</dc:creator>
  <cp:lastModifiedBy>Astra · Nexus IT</cp:lastModifiedBy>
  <cp:revision>1</cp:revision>
  <dcterms:created xsi:type="dcterms:W3CDTF">2026-07-18T10:29:56Z</dcterms:created>
  <dcterms:modified xsi:type="dcterms:W3CDTF">2026-07-18T10:29:56Z</dcterms:modified>
</cp:coreProperties>
</file>