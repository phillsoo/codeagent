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680960" y="-1097280"/>
            <a:ext cx="5669280" cy="5669280"/>
          </a:xfrm>
          <a:prstGeom prst="arc">
            <a:avLst/>
          </a:prstGeom>
          <a:solidFill>
            <a:srgbClr val="C74634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412480" y="3474720"/>
            <a:ext cx="4114800" cy="4114800"/>
          </a:xfrm>
          <a:prstGeom prst="arc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" y="621792"/>
            <a:ext cx="246888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40080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READY · DEPLOY ON APPROVAL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123444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Integrated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Platform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Quote · Consumption · Weekly Report · Demo Gallery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3803904"/>
            <a:ext cx="6126480" cy="1389888"/>
          </a:xfrm>
          <a:prstGeom prst="roundRect">
            <a:avLst>
              <a:gd name="adj" fmla="val 5263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087368"/>
            <a:ext cx="5596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화면 · 단일 데이터 플랫폼 · 승인 즉시 배포 가능한 구조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45720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 중심으로 영업 실행과 OCI 가시성을 연결합니다.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6263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Prepared by Astra · Nexus 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업무를 하나의 실행 플랫폼으로 통합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자산을 재사용하고 데이터 기준·보안·배포 통제를 먼저 고정합니다.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020824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122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Shell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2569464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메뉴에서 5개 모듈을 전환하고 본문에서 즉시 업무 수행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63640" y="1755648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02082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1122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23176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Data Core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672" y="2569464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ADBHERMES에 업무·가격·사용량·감사 데이터를 일관된 모델로 저장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21792" y="3749040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401421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1056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8132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Fresh by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7824" y="4562856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가격·Consumption의 기준시각·통화·단위·수집 이력을 함께 보존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63640" y="3749040"/>
            <a:ext cx="532180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01421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41056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23176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 with Gates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19672" y="4562856"/>
            <a:ext cx="4681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SSH·DB·TLS·NSG·백업 승인 후 원자적 release 전환과 rollback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21792" y="5916168"/>
            <a:ext cx="10972800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6007608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MVP: CRM + Weekly → Quote + Consumption → Demo/AI  |  12주 · 5단계 · 승인 기반 배포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자산과 데이터 품질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도구로 확인한 실제 상태를 기획 기준선으로 사용합니다.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73152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32104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Accounts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104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8개 필드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52928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73736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80.6%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063240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T4 비중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 accounts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084064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73736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70.6%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294376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“기타” Play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94376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178 accounts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315200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173736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0%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525512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분류·산업·OCI강점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25512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필드 미입력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9546336" y="173736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46336" y="173736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6648" y="1901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ECPU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756648" y="23042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56648" y="25420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AVAILABLE · 1TB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21792" y="3182112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218688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 SERVER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" y="3547872"/>
            <a:ext cx="5394960" cy="2139696"/>
          </a:xfrm>
          <a:prstGeom prst="roundRect">
            <a:avLst>
              <a:gd name="adj" fmla="val 3419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webapp · Oracle Linux 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" y="42336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VM.Standard.E5.Flex  |  1 OCPU · 12GB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" y="4681728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4700016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IP 217.142.147.141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27248" y="4681728"/>
            <a:ext cx="1691640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82112" y="4700016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key unavailable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6112" y="51480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서버는 확인됐지만 Astra 환경에는 접속 private key가 없음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9632" y="3182112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218688"/>
            <a:ext cx="5175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3547872"/>
            <a:ext cx="5394960" cy="2139696"/>
          </a:xfrm>
          <a:prstGeom prst="roundRect">
            <a:avLst>
              <a:gd name="adj" fmla="val 3419"/>
            </a:avLst>
          </a:prstGeom>
          <a:solidFill>
            <a:srgbClr val="F8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3822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 · Autonomous AI Database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73952" y="4233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ECPU · Auto Scaling · 60-day backup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73952" y="4681728"/>
            <a:ext cx="1600200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700016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mTLS Wallet ready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66176" y="4681728"/>
            <a:ext cx="2221992" cy="2743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700016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HERMESUSER credential pending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73952" y="5148072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Wallet/driver/TCPS 1522 연결은 준비·검증 완료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0" y="6510528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OCI CLI/API read-only discovery · FY27_ISV_accounts.xlsx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메뉴는 고정, 본문은 업무에 맞춰 전환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App Shell로 영업대표와 관리자가 같은 기준의 화면을 사용합니다.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682496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82496"/>
            <a:ext cx="2514600" cy="452628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SALES HUB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52374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2A3547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426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99032" y="26243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1272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99032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견적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4962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99032" y="383133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34256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531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99032" y="44348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Report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937760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0566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99032" y="50383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하위 메뉴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59070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Overview · ADB AI · AI Data Platform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493008" y="1956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Account Cockpit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582912" y="1938528"/>
            <a:ext cx="1481328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7776" y="19568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Last sync 09:00 KST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93008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2542032"/>
            <a:ext cx="73152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3703320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2542032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9592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5879592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T1–T3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45552" y="2542032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2542032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55864" y="27066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8055864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 Actions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93008" y="38862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Workbench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49040" y="4544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 Action overdue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Opportunity at risk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Data enrichment needed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3886200"/>
            <a:ext cx="2267712" cy="1737360"/>
          </a:xfrm>
          <a:prstGeom prst="roundRect">
            <a:avLst>
              <a:gd name="adj" fmla="val 4211"/>
            </a:avLst>
          </a:prstGeom>
          <a:solidFill>
            <a:srgbClr val="F8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41513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52560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62.5%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9052560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셀 충족률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TARGET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모놀리스 + 관리형 데이터 플랫폼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OCPU 서버에서 시작하고, 데이터·보안·배포 경계는 확장 가능하게 분리합니다.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Sales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 · Manager · Viewer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764792"/>
            <a:ext cx="3611880" cy="1261872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764792"/>
            <a:ext cx="73152" cy="1261872"/>
          </a:xfrm>
          <a:prstGeom prst="rect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9385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+ 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276856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 :443 → localhost :8080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modules · API · audit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15784" y="11430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5784" y="1143000"/>
            <a:ext cx="73152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6096" y="13167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IAM Identity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6096" y="1655064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OIDC · MFA · RBAC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15784" y="2395728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2395728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6096" y="25694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Price List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2907792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versioned catalog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15784" y="3648456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784" y="3648456"/>
            <a:ext cx="73152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38221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/ Cost 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6096" y="4160520"/>
            <a:ext cx="2057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cost · usage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4782312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1720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4782312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4956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5294376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schema · audit · AI metadata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mTLS Wallet · 60-day backup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" y="4389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389120"/>
            <a:ext cx="73152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562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Import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9011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 / CSV · validate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79192" y="2423160"/>
            <a:ext cx="5029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839712" y="2359152"/>
            <a:ext cx="502920" cy="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39712" y="2834640"/>
            <a:ext cx="5029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839712" y="4078224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29200" y="3054096"/>
            <a:ext cx="0" cy="1700784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679192" y="4846320"/>
            <a:ext cx="502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966960" y="5897880"/>
            <a:ext cx="1581912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21824" y="5916168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SEOUL · PHILLSOO.LIM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DATA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업무별 스키마, 공통 감사·버전 기준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모듈별로 나누되 Account와 사용자·기간 축으로 연결합니다.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8424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9888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CRM_ACCOUNTS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77824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CRM_OPPORTUNITIES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77824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CRM_ACTIVITIES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89120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98424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57216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PRICE_CATALOG_VERSIONS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645152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PRICE_ITEMS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4645152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QUOTES / QUOTE_LINES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56448" y="1746504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75904" y="198424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075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24544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5237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USAGE_DAILY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8412480" y="2816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USAGE_SYNC_RUNS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412480" y="310896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COST DIMENSIONS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21792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4142232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7824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WEEKLY_REPORTS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877824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WEEKLY_REPORT_ITEMS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77824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REVISION STATUS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389120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08576" y="4142232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645152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DEMO_ITEMS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4645152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DEMO_CATEGORIES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4645152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ALLOWLIST LINKS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8156448" y="3904488"/>
            <a:ext cx="343814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5904" y="4142232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75904" y="4233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24544" y="4151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412480" y="468172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AUDIT_EVENTS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8412480" y="49743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APP_USERS / ROLES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412480" y="52669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MIGRATION_JOURNAL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21792" y="6016752"/>
            <a:ext cx="10972800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6089904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 |  PK/FK · UTC timestamp · Decimal 금액 · soft archive · source/effective/ingested time · audit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— 최소 입력으로 Account 실행력을 높입니다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Account를 시작점으로 상태·관계·기회·다음 행동을 연결합니다.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75688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44168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XLSX 검증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통제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207568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21024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81528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산업·OCI강점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추천/승인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5464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75504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8384" y="207568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Engage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58384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활동·관계자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52360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0756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74736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Stage/Forecast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09176" y="2523744"/>
            <a:ext cx="320040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29216" y="1847088"/>
            <a:ext cx="1956816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207568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12096" y="21671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51592" y="20665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Coach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12096" y="26334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Risk·Next Best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" y="3721608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75818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SCREEN SET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Cockpit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824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Tier · Play · Health · Next 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89120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 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45152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· Amount · Close · Forecast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56448" y="4169664"/>
            <a:ext cx="34381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4434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View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0" y="489204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Coverage · Risk · Hygiene · Rep load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" y="5916168"/>
            <a:ext cx="2157984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" y="5934456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Customer names stay private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44368" y="59527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GitHub에는 import template과 집계만 포함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·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Quote — 가격의 “최신성”을 시스템이 증명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가격을 고정값으로 복사하지 않고 공식 Source → Version → Quote Snapshot으로 연결합니다.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Price List/API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22960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source_time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6080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90672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90672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· Unit · Currency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090672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catalog_version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93792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58384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수량 · 기간 · 할인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358384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13248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Decimal rules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14032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61504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626096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26096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시점 가격 고정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626096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effective_time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81744" y="2779776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29216" y="1792224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19751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893808" y="25054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93808" y="29535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정책·유효기간·PDF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893808" y="350215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48672" y="3520440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" y="4306824"/>
            <a:ext cx="7095744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4590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 Formula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32688" y="497433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Total = Unit Price × Quantity × Term × (1 − Discount)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991856" y="4306824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66176" y="4590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Stale Price Guard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66176" y="496519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· currency · unit · effective time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 하나라도 누락되면 견적 확정 차단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· MODULE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 — 비용과 사용량을 같은 축으로 조회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Usage API를 일 단위로 수집하고 지연·통화·태그 품질을 함께 표시합니다.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7040880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 Cockpit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38528" y="2706624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8528" y="2706624"/>
            <a:ext cx="3449117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26791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2644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38528" y="3291840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3291840"/>
            <a:ext cx="2649931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32644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38528" y="3877056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3877056"/>
            <a:ext cx="1430122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496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38528" y="4462272"/>
            <a:ext cx="4206240" cy="164592"/>
          </a:xfrm>
          <a:prstGeom prst="rect">
            <a:avLst/>
          </a:prstGeom>
          <a:solidFill>
            <a:srgbClr val="EEF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8528" y="4462272"/>
            <a:ext cx="201899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4434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5084064"/>
            <a:ext cx="6254496" cy="356616"/>
          </a:xfrm>
          <a:prstGeom prst="roundRect">
            <a:avLst>
              <a:gd name="adj" fmla="val 2051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5184648"/>
            <a:ext cx="5943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Actual Cost · Forecast · Budget Gap · Service Mix · Top Compartments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973568" y="1792224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3024" y="195681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204825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41664" y="19476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Idempotent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84080" y="193852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usage key 재수집 시 upsert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73568" y="2761488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292608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301752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41664" y="29169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Freshness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84080" y="290779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source와 ingestion 시각 분리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7973568" y="3730752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3024" y="389534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398678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41664" y="388620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0" y="3877056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· region · compartment · tag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973568" y="4700016"/>
            <a:ext cx="360273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93024" y="4864608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49560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741664" y="485546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Alert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84080" y="484632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임계는 알림, 자동 삭제 금지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97356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2843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6228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715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Sync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351008" y="5568696"/>
            <a:ext cx="1078992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05872" y="5586984"/>
            <a:ext cx="969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UTC → KST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· MODULE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Report — 작성보다 재사용과 추적에 집중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CRM·Consumption 데이터를 불러오고 사람은 판단·이슈·다음 주 계획만 보완합니다.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초안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성과·활동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18104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38144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E0F2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6744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제출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코멘트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34456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EDE9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Manager 검토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Gap/지원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50808" y="2578608"/>
            <a:ext cx="31089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0848" y="1874520"/>
            <a:ext cx="2496312" cy="1426464"/>
          </a:xfrm>
          <a:prstGeom prst="roundRect">
            <a:avLst>
              <a:gd name="adj" fmla="val 5128"/>
            </a:avLst>
          </a:prstGeom>
          <a:solidFill>
            <a:srgbClr val="D1FAE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21396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99448" y="26517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기준선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Snapshot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3822192"/>
            <a:ext cx="3401568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587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AUTO-FILL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425196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343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71016" y="4279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변화 · Opportunity · Next 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" y="476402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8554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71016" y="4791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7400" y="47914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신규/수정 견적 · 유효기간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" y="527608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3675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71016" y="5303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57400" y="530352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사용량 · 비용 · 이상치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33872" y="3822192"/>
            <a:ext cx="3401568" cy="310896"/>
          </a:xfrm>
          <a:prstGeom prst="roundRect">
            <a:avLst>
              <a:gd name="adj" fmla="val 17647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858768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JUDGMENT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25312" y="425196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43434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42793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고객/내부 이슈와 지원 요청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25312" y="476402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485546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7914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우선순위와 의사결정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25312" y="527608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53675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5303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Risk/Blocker owner와 due date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098280" y="5696712"/>
            <a:ext cx="2103120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53144" y="5715000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후 수정 = 새 Revision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· MODULE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 — 반복 가능한 데모 자산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설명·준비물·담당자·상태·실행 링크를 표준화하고 운영 데이터와 격리합니다.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112264"/>
            <a:ext cx="621792" cy="621792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00784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Overview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Landing Zone ·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Compute ·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2112264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8112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Autonomous AI DB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63440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AI 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28032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56448" y="1810512"/>
            <a:ext cx="3438144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112264"/>
            <a:ext cx="621792" cy="6217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322576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07568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Data Platform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30768" y="296265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Ingest · Vector ·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Analytics · Governance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3529584"/>
            <a:ext cx="256032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50224" y="3547872"/>
            <a:ext cx="2450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 · REVIEW · RETIRED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" y="4407408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50799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5994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35024" y="45262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Isolation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377440" y="451713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schema/credential을 운영 CRM과 분리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72784" y="4407408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376" y="4507992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459943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86016" y="452628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Allowlist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028432" y="451713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URL·이미지·실행 링크 검증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" y="5193792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" y="5294376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38581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35024" y="53126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Runbook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377440" y="53035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준비·실행·복구·비용·담당자 기록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72784" y="5193792"/>
            <a:ext cx="5321808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37376" y="5294376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7376" y="538581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86016" y="5312664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028432" y="530352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언제 어떤 Demo를 실행했는지 추적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· SECURITY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 server를 “업무 시스템” 수준으로 올리는 조건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2252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공개 포트를 그대로 둔 채 배포하지 않습니다.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92224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38528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56816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938528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8765 / 3389 / 1521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26280" y="1938528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0.0.0.0/0 공개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33488" y="1929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NSG·관리 CIDR·Bastion 검토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542032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88336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706624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688336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 TLS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268833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80/443 미허용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33488" y="2679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443 only + certificate + HSTS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3291840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438144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456432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438144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Credential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34381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HERMESUSER 미확인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33488" y="3429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Vault/secret file + least privilege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4041648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87952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4206240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4187952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26280" y="418795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인증 미구성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33488" y="4178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 IAM OIDC · MFA · RBAC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" y="4791456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937760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956048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4937760"/>
            <a:ext cx="2331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&amp; Recovery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26280" y="493776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시험 미확인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3488" y="4928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trail · backup · rollback drill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" y="5861304"/>
            <a:ext cx="10972800" cy="329184"/>
          </a:xfrm>
          <a:prstGeom prst="roundRect">
            <a:avLst>
              <a:gd name="adj" fmla="val 22222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5952744"/>
            <a:ext cx="10515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승인 게이트: SSH key · DB credential · TLS/DNS · 443/ingress · backup · reviewer · rollback owner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· DEPLOYMENT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Release를 교체하고, 문제가 생기면 링크를 되돌립니다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애플리케이션은 localhost에만 bind하고 Nginx가 외부 TLS를 종료합니다.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57400"/>
            <a:ext cx="420624" cy="42062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PRE-FLIGHT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OS·disk·ports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Wallet·DB·backup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205740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/opt/hermes/releases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/&lt;version&gt;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17830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1488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79408" y="20574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6517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· compile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health · DB smoke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11480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44752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symlink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systemd reload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7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411480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logs · health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module smoke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56448" y="3840480"/>
            <a:ext cx="3438144" cy="1691640"/>
          </a:xfrm>
          <a:prstGeom prst="roundRect">
            <a:avLst>
              <a:gd name="adj" fmla="val 4324"/>
            </a:avLst>
          </a:prstGeom>
          <a:solidFill>
            <a:srgbClr val="FBE9E5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114800"/>
            <a:ext cx="420624" cy="420624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420624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79408" y="41148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ROLLBACK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previous symlink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restart · verify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" y="5934456"/>
            <a:ext cx="10972800" cy="301752"/>
          </a:xfrm>
          <a:prstGeom prst="roundRect">
            <a:avLst>
              <a:gd name="adj" fmla="val 2424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6016752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패키지: preflight.sh · install.sh · verify.sh · rollback.sh · systemd · nginx · DB migration journal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MVP — 업무 가치 순서로 위험을 줄입니다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1978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독립 검증과 Go/No-Go를 통과해야 다음 단계로 진행합니다.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3504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075688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Guardrails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8096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권한·데이터·보안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31136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96312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0904" y="207568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60904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660904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2–3주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60904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Shell · ADB schema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IAM · audit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23944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3712" y="2075688"/>
            <a:ext cx="457200" cy="45720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53712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53712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4–6주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53712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· Weekly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import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16752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81928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20756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Economics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446520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1384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7–9주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Price/Quote · Usage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version/freshness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09560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174736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9328" y="20756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9328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9328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Showcase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339328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39328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 Gallery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demo isolation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02368" y="3410712"/>
            <a:ext cx="265176" cy="0"/>
          </a:xfrm>
          <a:prstGeom prst="line">
            <a:avLst/>
          </a:prstGeom>
          <a:noFill/>
          <a:ln w="25400">
            <a:solidFill>
              <a:srgbClr val="D7DDE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067544" y="1856232"/>
            <a:ext cx="1627632" cy="310896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32136" y="207568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32136" y="222199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32136" y="2770632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Go-live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0232136" y="3246120"/>
            <a:ext cx="685800" cy="274320"/>
          </a:xfrm>
          <a:prstGeom prst="roundRect">
            <a:avLst>
              <a:gd name="adj" fmla="val 4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87000" y="3264408"/>
            <a:ext cx="576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11–12주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32136" y="3867912"/>
            <a:ext cx="1298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UAT · 교육 · DR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인수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" y="5340096"/>
            <a:ext cx="2084832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537667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METRICS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07792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62656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CRM hygiene ≥ 90%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08576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F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version 100%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9360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64224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Usage freshness 표시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10144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65008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Weekly 제출률 ≥ 95%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710928" y="535838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65792" y="5376672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Rollback ≤ 10분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1792" y="65105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Astra · OCI Integrated Sales Platform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109960" y="64739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746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· DEPLOYMENT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949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준비는 진행 중, 운영 변경은 승인 대기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21792" y="151790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739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7672" y="17007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OCI/ADB discovery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94176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ADBHERMES Wallet · driver · TCPS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75564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7393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7007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baseline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36024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252개 · data quality 집계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1792" y="275234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9900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00837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7672" y="2935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 package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94176" y="2907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app · DDL · rollback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275234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299008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00837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2935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access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36024" y="2907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private key / user path 필요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21792" y="398678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22452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24281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47672" y="4169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login &amp; grant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694176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credential · schema · Oracle adapter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63640" y="3986784"/>
            <a:ext cx="5321808" cy="950976"/>
          </a:xfrm>
          <a:prstGeom prst="roundRect">
            <a:avLst>
              <a:gd name="adj" fmla="val 7692"/>
            </a:avLst>
          </a:prstGeom>
          <a:solidFill>
            <a:srgbClr val="172033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4808" y="422452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4242816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4169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Network &amp; TLS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36024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443/NSG · DNS · certificate 승인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1792" y="5541264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705856"/>
            <a:ext cx="10469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DECISION  |  SSH key · DB secret · 대상 schema · TLS/DNS · NSG 변경 · 유지보수 창을 승인하면 배포 실행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658368" y="63185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production change executed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09960" y="6318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Integrated Sales Platform 구축 기획안</dc:title>
  <dc:subject>OCI Integrated Sales Platform</dc:subject>
  <dc:creator>Astra · Nexus IT</dc:creator>
  <cp:lastModifiedBy>Astra · Nexus IT</cp:lastModifiedBy>
  <cp:revision>1</cp:revision>
  <dcterms:created xsi:type="dcterms:W3CDTF">2026-07-18T10:44:47Z</dcterms:created>
  <dcterms:modified xsi:type="dcterms:W3CDTF">2026-07-18T10:44:47Z</dcterms:modified>
</cp:coreProperties>
</file>