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7680960" y="-1097280"/>
            <a:ext cx="5669280" cy="5669280"/>
          </a:xfrm>
          <a:prstGeom prst="arc">
            <a:avLst/>
          </a:prstGeom>
          <a:solidFill>
            <a:srgbClr val="C74634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300000">
            <a:off x="8412480" y="3474720"/>
            <a:ext cx="4114800" cy="4114800"/>
          </a:xfrm>
          <a:prstGeom prst="arc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" y="621792"/>
            <a:ext cx="2468880" cy="274320"/>
          </a:xfrm>
          <a:prstGeom prst="roundRect">
            <a:avLst>
              <a:gd name="adj" fmla="val 4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40080"/>
            <a:ext cx="2359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PROPOSAL · PRODUCTION NO-GO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94944" y="123444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Integrated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Sales Platform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9077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 · Quote · Consumption · Weekly Report · Demo Gallery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3803904"/>
            <a:ext cx="6126480" cy="1389888"/>
          </a:xfrm>
          <a:prstGeom prst="roundRect">
            <a:avLst>
              <a:gd name="adj" fmla="val 5263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4087368"/>
            <a:ext cx="5596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화면 · 단일 데이터 플랫폼을 위한 구축 제안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7552" y="457200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Preview 앱은 준비됐지만 운영 인증·Oracle 연동·UAT는 미구현입니다.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6263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Prepared by Astra · Nexus 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업무를 하나의 실행 플랫폼으로 통합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현재는 목표 설계와 localhost Preview만 준비됐으며 운영 배포는 NO-GO입니다.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755648"/>
            <a:ext cx="532180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020824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1122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81328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Preview Shell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7824" y="2569464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localhost에서 5개 메뉴와 핵심 API 동작 검증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263640" y="1755648"/>
            <a:ext cx="532180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9672" y="2020824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122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23176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Data Core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19672" y="2569464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ADBHERMES 저장 구조는 목표이며 Oracle runtime adapter는 미구현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21792" y="3749040"/>
            <a:ext cx="532180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4014216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10565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81328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Freshness Contract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77824" y="4562856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가격·Consumption의 기준시각·통화·단위·수집 이력을 함께 보존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263640" y="3749040"/>
            <a:ext cx="532180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4014216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410565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23176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through Gates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19672" y="4562856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OIDC·Oracle·Privacy·복구·UAT와 G0~G8 통과 후 운영 검토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21792" y="591616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6007608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순서: Guardrails → CRM/Weekly → Price/Consumption → Demo/AI → UAT/Recovery → Go-Live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CURRENT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자산과 데이터 품질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도구로 확인한 실제 상태를 기획 기준선으로 사용합니다.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37360"/>
            <a:ext cx="73152" cy="1051560"/>
          </a:xfrm>
          <a:prstGeom prst="rect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901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32104" y="23042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Accounts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2104" y="25420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8개 필드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852928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2928" y="173736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901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80.6%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063240" y="23042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T4 비중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63240" y="25420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 accounts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084064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84064" y="1737360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4376" y="1901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70.6%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294376" y="23042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“기타” Play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94376" y="25420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178 accounts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315200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1737360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5512" y="1901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0%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7525512" y="23042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분류·산업·OCI강점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25512" y="25420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필드 미입력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546336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46336" y="1737360"/>
            <a:ext cx="73152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56648" y="1901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ECPU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9756648" y="23042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ADBHERMES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56648" y="25420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AVAILABLE · 1TB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21792" y="3182112"/>
            <a:ext cx="539496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218688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APPLICATION SERVER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" y="3547872"/>
            <a:ext cx="5394960" cy="2139696"/>
          </a:xfrm>
          <a:prstGeom prst="roundRect">
            <a:avLst>
              <a:gd name="adj" fmla="val 3419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webapp · Oracle Linux 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6112" y="42336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VM.Standard.E5.Flex  |  1 OCPU · 12GB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6112" y="4681728"/>
            <a:ext cx="2057400" cy="274320"/>
          </a:xfrm>
          <a:prstGeom prst="roundRect">
            <a:avLst>
              <a:gd name="adj" fmla="val 4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" y="4700016"/>
            <a:ext cx="1947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endpoint · masked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27248" y="4681728"/>
            <a:ext cx="1691640" cy="274320"/>
          </a:xfrm>
          <a:prstGeom prst="roundRect">
            <a:avLst>
              <a:gd name="adj" fmla="val 40000"/>
            </a:avLst>
          </a:prstGeom>
          <a:solidFill>
            <a:srgbClr val="FBE9E5"/>
          </a:solidFill>
          <a:ln w="12700">
            <a:solidFill>
              <a:srgbClr val="FBE9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82112" y="4700016"/>
            <a:ext cx="1581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SSH key unavailable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96112" y="5148072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서버는 확인됐지만 Astra 환경에는 접속 private key가 없음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99632" y="3182112"/>
            <a:ext cx="5394960" cy="310896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218688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99632" y="3547872"/>
            <a:ext cx="5394960" cy="2139696"/>
          </a:xfrm>
          <a:prstGeom prst="roundRect">
            <a:avLst>
              <a:gd name="adj" fmla="val 3419"/>
            </a:avLst>
          </a:prstGeom>
          <a:solidFill>
            <a:srgbClr val="F8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38221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ADBHERMES · Autonomous AI Database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73952" y="42336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ECPU · Auto Scaling · 60-day backup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73952" y="4681728"/>
            <a:ext cx="1600200" cy="27432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28816" y="4700016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mTLS Wallet ready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266176" y="4681728"/>
            <a:ext cx="2221992" cy="27432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21040" y="4700016"/>
            <a:ext cx="2112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2F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HERMESUSER credential pending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73952" y="5148072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Wallet 존재·driver load 확인 · 인증 DB smoke test BLOCKED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57600" y="6510528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OCI CLI/API read-only discovery · FY27_ISV_accounts.xlsx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USER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메뉴는 고정, 본문은 업무에 맞춰 전환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반응형 App Shell로 영업대표와 관리자가 같은 기준의 화면을 사용합니다.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682496"/>
            <a:ext cx="10972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82496"/>
            <a:ext cx="2514600" cy="452628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SALES HUB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523744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2A3547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4261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99032" y="26243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127248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46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99032" y="3227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견적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730752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84962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99032" y="38313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Consumption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334256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5312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99032" y="44348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Weekly Report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937760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05663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99032" y="503834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Gallery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669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하위 메뉴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59070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Overview · ADB AI · AI Data Platform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493008" y="19568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 · Account Cockpit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9582912" y="1938528"/>
            <a:ext cx="1481328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37776" y="195681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Last sync 09:00 KST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93008" y="2542032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93008" y="2542032"/>
            <a:ext cx="73152" cy="1051560"/>
          </a:xfrm>
          <a:prstGeom prst="rect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2706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3703320" y="3108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0" y="2542032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0" y="2542032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9592" y="2706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5879592" y="3108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T1–T3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45552" y="2542032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45552" y="2542032"/>
            <a:ext cx="73152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55864" y="2706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8055864" y="3108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Hot Actions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93008" y="388620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41513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Workbench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749040" y="454456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Next Action overdue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Opportunity at risk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Data enrichment needed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778240" y="3886200"/>
            <a:ext cx="2267712" cy="1737360"/>
          </a:xfrm>
          <a:prstGeom prst="roundRect">
            <a:avLst>
              <a:gd name="adj" fmla="val 4211"/>
            </a:avLst>
          </a:prstGeom>
          <a:solidFill>
            <a:srgbClr val="F8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52560" y="41513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052560" y="4617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62.5%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9052560" y="51114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셀 충족률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TARGET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85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 모놀리스 + 관리형 데이터 플랫폼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20700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OCPU 서버에서 시작하고, 데이터·보안·배포 경계는 확장 가능하게 분리합니다.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7315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39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Sales 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78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 · Manager · Viewer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764792"/>
            <a:ext cx="3611880" cy="1261872"/>
          </a:xfrm>
          <a:prstGeom prst="roundRect">
            <a:avLst>
              <a:gd name="adj" fmla="val 5797"/>
            </a:avLst>
          </a:prstGeom>
          <a:solidFill>
            <a:srgbClr val="17203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764792"/>
            <a:ext cx="73152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9385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+ FastAPI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276856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 :443 → localhost :8080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modules · API · audit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15784" y="114300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72033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15784" y="1143000"/>
            <a:ext cx="73152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6096" y="13167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IAM Identity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6096" y="165506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OIDC · MFA · RBAC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15784" y="2395728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720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5784" y="2395728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6096" y="25694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Price List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6096" y="290779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versioned catalog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15784" y="3648456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720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15784" y="3648456"/>
            <a:ext cx="7315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6096" y="38221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Usage / Cost API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26096" y="416052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 cost · usage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4782312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720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8688" y="4782312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49560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ADBHERMES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529437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schema · audit · AI metadata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mTLS Wallet · 60-day backup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" y="4389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389120"/>
            <a:ext cx="73152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5628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Import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9011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XLSX / CSV · validate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79192" y="2423160"/>
            <a:ext cx="5029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839712" y="2359152"/>
            <a:ext cx="502920" cy="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39712" y="2834640"/>
            <a:ext cx="5029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839712" y="4078224"/>
            <a:ext cx="5029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029200" y="3054096"/>
            <a:ext cx="0" cy="1700784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679192" y="4846320"/>
            <a:ext cx="5029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966960" y="5897880"/>
            <a:ext cx="1581912" cy="274320"/>
          </a:xfrm>
          <a:prstGeom prst="roundRect">
            <a:avLst>
              <a:gd name="adj" fmla="val 4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21824" y="5916168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SEOUL · PHILLSOO.LIM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DATA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LOGICAL MODEL · 일부 테이블 미구현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DDL에는 핵심 테이블만 포함되며 categories·allowlist·cost dimensions는 계획 항목입니다.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746504"/>
            <a:ext cx="3438144" cy="1783080"/>
          </a:xfrm>
          <a:prstGeom prst="roundRect">
            <a:avLst>
              <a:gd name="adj" fmla="val 4103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84248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7568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89888" y="1993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252374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CRM_ACCOUNTS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77824" y="281635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CRM_OPPORTUNITIES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77824" y="310896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CRM_ACTIVITIES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389120" y="1746504"/>
            <a:ext cx="3438144" cy="1783080"/>
          </a:xfrm>
          <a:prstGeom prst="roundRect">
            <a:avLst>
              <a:gd name="adj" fmla="val 4103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8576" y="198424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207568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57216" y="1993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QUOTE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5152" y="252374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PRICE_CATALOG_VERSIONS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645152" y="281635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PRICE_ITEMS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645152" y="310896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QUOTES / QUOTE_LINES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56448" y="1746504"/>
            <a:ext cx="3438144" cy="1783080"/>
          </a:xfrm>
          <a:prstGeom prst="roundRect">
            <a:avLst>
              <a:gd name="adj" fmla="val 4103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75904" y="198424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207568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24544" y="1993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0" y="252374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USAGE_DAILY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8412480" y="281635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USAGE_SYNC_RUNS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8412480" y="310896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COST DIMENSIONS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21792" y="3904488"/>
            <a:ext cx="343814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" y="4142232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42336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89888" y="4151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77824" y="4681728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WEEKLY_REPORTS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877824" y="497433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WEEKLY_REPORT_ITEMS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877824" y="526694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REVISION STATUS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4389120" y="3904488"/>
            <a:ext cx="343814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08576" y="4142232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08576" y="42336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57216" y="4151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645152" y="4681728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DEMO_ITEMS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4645152" y="497433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DEMO_CATEGORIES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4645152" y="526694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ALLOWLIST LINKS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8156448" y="3904488"/>
            <a:ext cx="343814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75904" y="4142232"/>
            <a:ext cx="420624" cy="42062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75904" y="42336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24544" y="4151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COMMON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412480" y="4681728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AUDIT_EVENTS</a:t>
            </a:r>
            <a:endParaRPr lang="en-US" sz="960" dirty="0"/>
          </a:p>
        </p:txBody>
      </p:sp>
      <p:sp>
        <p:nvSpPr>
          <p:cNvPr id="45" name="Text 43"/>
          <p:cNvSpPr/>
          <p:nvPr/>
        </p:nvSpPr>
        <p:spPr>
          <a:xfrm>
            <a:off x="8412480" y="497433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APP_USERS / ROLES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8412480" y="526694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MIGRATION_JOURNAL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621792" y="6016752"/>
            <a:ext cx="10972800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6089904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 |  PK/FK · UTC timestamp · Decimal 금액 · soft archive · source/effective/ingested time · audit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MODULE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 — 최소 입력으로 Account 실행력을 높입니다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252개 Account를 시작점으로 상태·관계·기회·다음 행동을 연결합니다.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847088"/>
            <a:ext cx="1956816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75688"/>
            <a:ext cx="420624" cy="42062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671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44168" y="20665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XLSX 검증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통제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8608" y="2523744"/>
            <a:ext cx="320040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98648" y="1847088"/>
            <a:ext cx="1956816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81528" y="2075688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21671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21024" y="20665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Enrich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81528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산업·OCI강점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추천/승인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55464" y="2523744"/>
            <a:ext cx="320040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75504" y="1847088"/>
            <a:ext cx="1956816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58384" y="2075688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21671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20665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Engage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58384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활동·관계자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수집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2523744"/>
            <a:ext cx="320040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52360" y="1847088"/>
            <a:ext cx="1956816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207568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21671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74736" y="20665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5240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Opportunity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Stage/Forecast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09176" y="2523744"/>
            <a:ext cx="320040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29216" y="1847088"/>
            <a:ext cx="1956816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12096" y="2075688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12096" y="21671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51592" y="20665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Coach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12096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Risk·Next Best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" y="3721608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75818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SCREEN SET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" y="4169664"/>
            <a:ext cx="343814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" y="4434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Cockpit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7824" y="489204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Tier · Play · Health · Next Action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89120" y="4169664"/>
            <a:ext cx="343814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4434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Opportunity Board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645152" y="489204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· Amount · Close · Forecast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56448" y="4169664"/>
            <a:ext cx="343814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4434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Manager View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412480" y="489204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Coverage · Risk · Hygiene · Rep load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" y="5916168"/>
            <a:ext cx="2157984" cy="274320"/>
          </a:xfrm>
          <a:prstGeom prst="roundRect">
            <a:avLst>
              <a:gd name="adj" fmla="val 40000"/>
            </a:avLst>
          </a:prstGeom>
          <a:solidFill>
            <a:srgbClr val="FBE9E5"/>
          </a:solidFill>
          <a:ln w="12700">
            <a:solidFill>
              <a:srgbClr val="FBE9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" y="5934456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Customer names stay private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44368" y="59527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GitHub에는 import template과 집계만 포함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· MODULE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Quote — 가격의 “최신성”을 시스템이 증명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cetools Price API · 일 1회 sync · 48시간 초과 stale 경고 · last-known-good 보존을 목표로 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92224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751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Price List/API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822960" y="350215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520440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source_time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78608" y="2779776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26080" y="1792224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9751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90672" y="25054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90672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· Unit · Currency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090672" y="350215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5536" y="3520440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catalog_version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779776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93792" y="1792224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19751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58384" y="25054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58384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수량 · 기간 · 할인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358384" y="350215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13248" y="3520440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Decimal rules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14032" y="2779776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61504" y="1792224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6096" y="19751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626096" y="25054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SNAPSHOT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26096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견적 시점 가격 고정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626096" y="350215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520440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effective_time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381744" y="2779776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729216" y="1792224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93808" y="19751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893808" y="25054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93808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정책·유효기간·PDF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9893808" y="350215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48672" y="3520440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8368" y="4306824"/>
            <a:ext cx="7095744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" y="45902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Quote Formula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32688" y="497433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 Total = Unit Price × Quantity × Term × (1 − Discount)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991856" y="4306824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66176" y="4590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E2F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Stale Price Guard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66176" y="4965192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 · currency · unit · effective time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누락 또는 48h stale이면 견적 확정 차단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0" y="6510528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Validated 2026-07-18 · API lastUpdated 2026-07-16T13:52:41.483Z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· MODULE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Consumption — 비용과 사용량을 별도 measure로 조회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Usage API는 대시보드, FOCUS/Cost Reports는 대사 원장으로 사용하며 통화·단위를 합산하지 않습니다.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7040880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Consumption Cockpit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Compute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38528" y="2706624"/>
            <a:ext cx="4206240" cy="164592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8528" y="2706624"/>
            <a:ext cx="3449117" cy="164592"/>
          </a:xfrm>
          <a:prstGeom prst="rect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26791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82%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26440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38528" y="3291840"/>
            <a:ext cx="4206240" cy="164592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38528" y="3291840"/>
            <a:ext cx="2649931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32644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38496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38528" y="3877056"/>
            <a:ext cx="4206240" cy="164592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38528" y="3877056"/>
            <a:ext cx="143012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8496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44348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38528" y="4462272"/>
            <a:ext cx="4206240" cy="164592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38528" y="4462272"/>
            <a:ext cx="201899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4434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6112" y="5084064"/>
            <a:ext cx="6254496" cy="356616"/>
          </a:xfrm>
          <a:prstGeom prst="roundRect">
            <a:avLst>
              <a:gd name="adj" fmla="val 2051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5184648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Actual Cost · Forecast · Budget Gap · Service Mix · Top Compartments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973568" y="1792224"/>
            <a:ext cx="360273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93024" y="1956816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3024" y="204825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41664" y="194767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Idempotent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84080" y="193852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3일 재수집 · usage key upsert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973568" y="2761488"/>
            <a:ext cx="360273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93024" y="2926080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93024" y="30175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41664" y="29169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Freshness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784080" y="290779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24h 지연 · 잠정/확정 표시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7973568" y="3730752"/>
            <a:ext cx="360273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93024" y="3895344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93024" y="398678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741664" y="388620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784080" y="387705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통화·단위별 별도 measure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973568" y="4700016"/>
            <a:ext cx="360273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93024" y="4864608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93024" y="49560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741664" y="48554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Reconcile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784080" y="484632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Report 원본 보존 · 월별 대사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7973568" y="5568696"/>
            <a:ext cx="1078992" cy="274320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28432" y="5586984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Usage API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162288" y="5568696"/>
            <a:ext cx="1078992" cy="27432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7152" y="5586984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FOCUS Report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351008" y="5568696"/>
            <a:ext cx="1078992" cy="274320"/>
          </a:xfrm>
          <a:prstGeom prst="roundRect">
            <a:avLst>
              <a:gd name="adj" fmla="val 4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05872" y="5586984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UTC → KST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· MODULE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Weekly Report — 작성보다 재사용과 추적에 집중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CRM·Consumption 데이터를 불러오고 사람은 판단·이슈·다음 주 계획만 보완합니다.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2496312" cy="1426464"/>
          </a:xfrm>
          <a:prstGeom prst="roundRect">
            <a:avLst>
              <a:gd name="adj" fmla="val 5128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DRAFT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265176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초안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성과·활동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18104" y="2578608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38144" y="1874520"/>
            <a:ext cx="2496312" cy="1426464"/>
          </a:xfrm>
          <a:prstGeom prst="roundRect">
            <a:avLst>
              <a:gd name="adj" fmla="val 5128"/>
            </a:avLst>
          </a:prstGeom>
          <a:solidFill>
            <a:srgbClr val="E0F2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SUBMITTED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66744" y="265176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제출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코멘트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34456" y="2578608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54496" y="1874520"/>
            <a:ext cx="2496312" cy="1426464"/>
          </a:xfrm>
          <a:prstGeom prst="roundRect">
            <a:avLst>
              <a:gd name="adj" fmla="val 5128"/>
            </a:avLst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REVIEWED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3096" y="265176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Manager 검토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Gap/지원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50808" y="2578608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70848" y="1874520"/>
            <a:ext cx="2496312" cy="1426464"/>
          </a:xfrm>
          <a:prstGeom prst="roundRect">
            <a:avLst>
              <a:gd name="adj" fmla="val 5128"/>
            </a:avLst>
          </a:prstGeom>
          <a:solidFill>
            <a:srgbClr val="D1FAE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9448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99448" y="265176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기준선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Snapshot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" y="3822192"/>
            <a:ext cx="3401568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5876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AUTO-FILL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" y="4251960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3434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71016" y="42793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57400" y="427939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변화 · Opportunity · Next Action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" y="476402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8554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71016" y="47914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Quote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57400" y="479145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신규/수정 견적 · 유효기간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" y="527608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53675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71016" y="53035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Consumption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57400" y="530352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사용량 · 비용 · 이상치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33872" y="3822192"/>
            <a:ext cx="3401568" cy="310896"/>
          </a:xfrm>
          <a:prstGeom prst="roundRect">
            <a:avLst>
              <a:gd name="adj" fmla="val 17647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385876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 JUDGMENT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25312" y="4251960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5312" y="43434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427939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고객/내부 이슈와 지원 요청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25312" y="476402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25312" y="48554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47914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주 우선순위와 의사결정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25312" y="5276088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53675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92240" y="53035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Risk/Blocker owner와 due date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098280" y="5696712"/>
            <a:ext cx="2103120" cy="274320"/>
          </a:xfrm>
          <a:prstGeom prst="roundRect">
            <a:avLst>
              <a:gd name="adj" fmla="val 40000"/>
            </a:avLst>
          </a:prstGeom>
          <a:solidFill>
            <a:srgbClr val="FBE9E5"/>
          </a:solidFill>
          <a:ln w="12700">
            <a:solidFill>
              <a:srgbClr val="FBE9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53144" y="5715000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후 수정 = 새 Revision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· MODULE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Gallery — 반복 가능한 데모 자산 관리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CONTROL — 아직 미구현. 합성 데이터·별도 principal/schema·read-only SQL 정책이 선행돼야 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810512"/>
            <a:ext cx="3438144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112264"/>
            <a:ext cx="621792" cy="621792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2257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00784" y="20756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Overview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6112" y="296265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Landing Zone · Network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Compute · Security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0704" y="3529584"/>
            <a:ext cx="2560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547872"/>
            <a:ext cx="2450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 · REVIEW · RETIRED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3438144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2112264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32257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68112" y="20756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Autonomous AI DB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63440" y="296265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 AI 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28032" y="3529584"/>
            <a:ext cx="2560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3547872"/>
            <a:ext cx="2450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 · REVIEW · RETIRED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56448" y="1810512"/>
            <a:ext cx="3438144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2112264"/>
            <a:ext cx="621792" cy="6217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32257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0756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Data Platform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30768" y="296265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Ingest · Vector · RAG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Analytics · Governance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95360" y="3529584"/>
            <a:ext cx="2560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50224" y="3547872"/>
            <a:ext cx="2450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 · REVIEW · RETIRED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" y="4407408"/>
            <a:ext cx="5321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4507992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59943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35024" y="452628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Isolation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377440" y="451713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schema/credential을 운영 CRM과 분리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72784" y="4407408"/>
            <a:ext cx="5321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37376" y="4507992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7376" y="459943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86016" y="452628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Allowlist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028432" y="451713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URL·이미지·실행 링크 검증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" y="5193792"/>
            <a:ext cx="5321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384" y="5294376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538581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335024" y="531266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Runbook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377440" y="530352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준비·실행·복구·비용·담당자 기록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72784" y="5193792"/>
            <a:ext cx="5321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37376" y="5294376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37376" y="538581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86016" y="531266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028432" y="530352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언제 어떤 Demo를 실행했는지 추적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· SECURITY &amp;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8580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server를 “업무 시스템” 수준으로 올리는 조건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2252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공개 포트를 그대로 둔 채 배포하지 않습니다.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792224"/>
            <a:ext cx="10972800" cy="585216"/>
          </a:xfrm>
          <a:prstGeom prst="roundRect">
            <a:avLst>
              <a:gd name="adj" fmla="val 12500"/>
            </a:avLst>
          </a:prstGeom>
          <a:solidFill>
            <a:srgbClr val="172033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38528"/>
            <a:ext cx="941832" cy="274320"/>
          </a:xfrm>
          <a:prstGeom prst="roundRect">
            <a:avLst>
              <a:gd name="adj" fmla="val 4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56816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1938528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Internet exposure path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26280" y="193852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effective path 미검증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33488" y="19293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VNIC·NSG·route·firewall 증거화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542032"/>
            <a:ext cx="10972800" cy="585216"/>
          </a:xfrm>
          <a:prstGeom prst="roundRect">
            <a:avLst>
              <a:gd name="adj" fmla="val 125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688336"/>
            <a:ext cx="941832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706624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2688336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Application TLS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268833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80/443 미허용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33488" y="2679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443 only + certificate + HSTS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3291840"/>
            <a:ext cx="10972800" cy="585216"/>
          </a:xfrm>
          <a:prstGeom prst="roundRect">
            <a:avLst>
              <a:gd name="adj" fmla="val 125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438144"/>
            <a:ext cx="941832" cy="27432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456432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3438144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Credential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26280" y="343814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HERMESUSER 미확인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33488" y="3429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Vault/secret file + least privilege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4041648"/>
            <a:ext cx="10972800" cy="585216"/>
          </a:xfrm>
          <a:prstGeom prst="roundRect">
            <a:avLst>
              <a:gd name="adj" fmla="val 125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187952"/>
            <a:ext cx="941832" cy="274320"/>
          </a:xfrm>
          <a:prstGeom prst="roundRect">
            <a:avLst>
              <a:gd name="adj" fmla="val 4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4206240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4187952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Identity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26280" y="418795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인증 미구성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33488" y="41788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IAM OIDC · MFA · RBAC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" y="4791456"/>
            <a:ext cx="10972800" cy="585216"/>
          </a:xfrm>
          <a:prstGeom prst="roundRect">
            <a:avLst>
              <a:gd name="adj" fmla="val 125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4937760"/>
            <a:ext cx="941832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4956048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4937760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 &amp; Recovery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26280" y="493776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시험 미확인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33488" y="4928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 trail · backup · rollback drill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" y="5861304"/>
            <a:ext cx="10972800" cy="329184"/>
          </a:xfrm>
          <a:prstGeom prst="roundRect">
            <a:avLst>
              <a:gd name="adj" fmla="val 22222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" y="5952744"/>
            <a:ext cx="10515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승인 게이트: SSH key · DB credential · TLS/DNS · 443/ingress · backup · reviewer · rollback owner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· DEPLOYMENT TOPOLOGY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release rollback과 DB 복구를 분리합니다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v0.1.1은 localhost Preview 전용이며 Nginx 원격 접근과 production preflight를 차단합니다.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3438144" cy="1691640"/>
          </a:xfrm>
          <a:prstGeom prst="roundRect">
            <a:avLst>
              <a:gd name="adj" fmla="val 4324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057400"/>
            <a:ext cx="420624" cy="42062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488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44752" y="20574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PRE-FLIGHT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2651760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OS·disk·ports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Wallet·DB·backup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438144" cy="1691640"/>
          </a:xfrm>
          <a:prstGeom prst="roundRect">
            <a:avLst>
              <a:gd name="adj" fmla="val 4324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2057400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21488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0574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RELEASE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45152" y="2651760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/opt/hermes/releases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/&lt;version&gt;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56448" y="1783080"/>
            <a:ext cx="3438144" cy="1691640"/>
          </a:xfrm>
          <a:prstGeom prst="roundRect">
            <a:avLst>
              <a:gd name="adj" fmla="val 4324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2057400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1488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79408" y="20574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2651760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 · compile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health · DB smoke BLOCKED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" y="3840480"/>
            <a:ext cx="3438144" cy="1691640"/>
          </a:xfrm>
          <a:prstGeom prst="roundRect">
            <a:avLst>
              <a:gd name="adj" fmla="val 4324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11480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42062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44752" y="41148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SWITCH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824" y="4709160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 symlink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systemd reload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3840480"/>
            <a:ext cx="3438144" cy="1691640"/>
          </a:xfrm>
          <a:prstGeom prst="roundRect">
            <a:avLst>
              <a:gd name="adj" fmla="val 4324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26864" y="4114800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42062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41148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4709160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logs · health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module smoke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56448" y="3840480"/>
            <a:ext cx="3438144" cy="1691640"/>
          </a:xfrm>
          <a:prstGeom prst="roundRect">
            <a:avLst>
              <a:gd name="adj" fmla="val 4324"/>
            </a:avLst>
          </a:prstGeom>
          <a:solidFill>
            <a:srgbClr val="FBE9E5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4192" y="4114800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42062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79408" y="41148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 ROLLBACK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0" y="4709160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previous symlink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restore는 별도 drill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" y="5934456"/>
            <a:ext cx="10972800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6016752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Preview package: checksum wheel install · auto app rollback · production NO-GO preflight · DB restore 미검증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 MVP — 업무 가치 순서로 위험을 줄입니다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단계는 독립 검증과 Go/No-Go를 통과해야 다음 단계로 진행합니다.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3504" y="1856232"/>
            <a:ext cx="1627632" cy="3108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075688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221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" y="2770632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Guardrails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8096" y="324612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64408"/>
            <a:ext cx="576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386791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권한·데이터·보안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Definition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31136" y="3410712"/>
            <a:ext cx="26517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96312" y="1856232"/>
            <a:ext cx="1627632" cy="3108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60904" y="207568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0904" y="2221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60904" y="2770632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660904" y="324612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15768" y="3264408"/>
            <a:ext cx="576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2–3주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60904" y="386791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 Shell · ADB schema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IAM · audit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23944" y="3410712"/>
            <a:ext cx="26517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89120" y="1856232"/>
            <a:ext cx="1627632" cy="3108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3712" y="2075688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2221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53712" y="2770632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53712" y="324612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3264408"/>
            <a:ext cx="576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4–6주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53712" y="386791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 · Weekly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import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16752" y="3410712"/>
            <a:ext cx="26517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81928" y="1856232"/>
            <a:ext cx="1627632" cy="3108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207568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221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2770632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Economics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446520" y="324612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1384" y="3264408"/>
            <a:ext cx="576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7–9주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386791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Price/Quote · Usage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version/freshness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909560" y="3410712"/>
            <a:ext cx="26517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174736" y="1856232"/>
            <a:ext cx="1627632" cy="3108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9328" y="207568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9328" y="2221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39328" y="2770632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Showcase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339328" y="324612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4192" y="3264408"/>
            <a:ext cx="576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39328" y="386791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Gallery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demo isolation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802368" y="3410712"/>
            <a:ext cx="26517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067544" y="1856232"/>
            <a:ext cx="1627632" cy="3108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232136" y="2075688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32136" y="2221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232136" y="2770632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Go-live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0232136" y="324612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87000" y="3264408"/>
            <a:ext cx="576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11–12주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232136" y="386791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UAT · 교육 · DR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인수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" y="5340096"/>
            <a:ext cx="2084832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537667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907792" y="5358384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62656" y="5376672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 hygiene ≥ 90%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08576" y="5358384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5376672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2F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version 100%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9360" y="5358384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64224" y="5376672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Usage freshness 표시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010144" y="5358384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65008" y="5376672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Weekly 제출률 ≥ 95%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710928" y="5358384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FBE9E5"/>
          </a:solidFill>
          <a:ln w="12700">
            <a:solidFill>
              <a:srgbClr val="FBE9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65792" y="5376672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 rollback &lt;10m*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657600" y="6510528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미검증 목표 · DB restore/RTO는 격리 복구 drill 후 확정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· DEPLOYMENT READINESS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판정: PRODUCTION NO-GO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21792" y="1517904"/>
            <a:ext cx="5321808" cy="950976"/>
          </a:xfrm>
          <a:prstGeom prst="roundRect">
            <a:avLst>
              <a:gd name="adj" fmla="val 7692"/>
            </a:avLst>
          </a:prstGeom>
          <a:solidFill>
            <a:srgbClr val="17203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5564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77393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47672" y="17007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Read-only discovery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94176" y="1673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Wallet 존재 · driver load · DB login 미검증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263640" y="1517904"/>
            <a:ext cx="5321808" cy="950976"/>
          </a:xfrm>
          <a:prstGeom prst="roundRect">
            <a:avLst>
              <a:gd name="adj" fmla="val 7692"/>
            </a:avLst>
          </a:prstGeom>
          <a:solidFill>
            <a:srgbClr val="17203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175564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77393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0" y="17007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baseline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36024" y="1673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252개 집계 · 실 CRM 적재 승인 아님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21792" y="2752344"/>
            <a:ext cx="5321808" cy="950976"/>
          </a:xfrm>
          <a:prstGeom prst="roundRect">
            <a:avLst>
              <a:gd name="adj" fmla="val 7692"/>
            </a:avLst>
          </a:prstGeom>
          <a:solidFill>
            <a:srgbClr val="172033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99008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00837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47672" y="29352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Production build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94176" y="2907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OIDC/RBAC · Oracle adapter · audit 미구현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263640" y="2752344"/>
            <a:ext cx="5321808" cy="950976"/>
          </a:xfrm>
          <a:prstGeom prst="roundRect">
            <a:avLst>
              <a:gd name="adj" fmla="val 7692"/>
            </a:avLst>
          </a:prstGeom>
          <a:solidFill>
            <a:srgbClr val="172033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299008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00837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89520" y="29352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 security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36024" y="2907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effective exposure · hardening · TLS 미검증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21792" y="3986784"/>
            <a:ext cx="5321808" cy="950976"/>
          </a:xfrm>
          <a:prstGeom prst="roundRect">
            <a:avLst>
              <a:gd name="adj" fmla="val 7692"/>
            </a:avLst>
          </a:prstGeom>
          <a:solidFill>
            <a:srgbClr val="172033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22452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24281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47672" y="41696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DB/IAM/Privacy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694176" y="4142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least privilege · Vault · DPIA 미승인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263640" y="3986784"/>
            <a:ext cx="5321808" cy="950976"/>
          </a:xfrm>
          <a:prstGeom prst="roundRect">
            <a:avLst>
              <a:gd name="adj" fmla="val 7692"/>
            </a:avLst>
          </a:prstGeom>
          <a:solidFill>
            <a:srgbClr val="172033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4808" y="422452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424281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9520" y="41696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UAT &amp; Recovery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336024" y="4142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E2E · restore drill · rollback rehearsal 없음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21792" y="5541264"/>
            <a:ext cx="10972800" cy="530352"/>
          </a:xfrm>
          <a:prstGeom prst="roundRect">
            <a:avLst>
              <a:gd name="adj" fmla="val 13793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705856"/>
            <a:ext cx="10469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DECISION  |  G0~G8 Owner · Due · Evidence ID · Exit criterion을 지정하고 모두 PASS 후 Change Review</a:t>
            </a:r>
            <a:endParaRPr lang="en-US" sz="1140" dirty="0"/>
          </a:p>
        </p:txBody>
      </p:sp>
      <p:sp>
        <p:nvSpPr>
          <p:cNvPr id="36" name="Text 34"/>
          <p:cNvSpPr/>
          <p:nvPr/>
        </p:nvSpPr>
        <p:spPr>
          <a:xfrm>
            <a:off x="658368" y="63185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production change · no real-data load · no public ingress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09960" y="6318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OCI Integrated Sales Platform 구축 기획안</dc:title>
  <dc:subject>OCI Integrated Sales Platform</dc:subject>
  <dc:creator>Astra · Nexus IT</dc:creator>
  <cp:lastModifiedBy>Astra · Nexus IT</cp:lastModifiedBy>
  <cp:revision>1</cp:revision>
  <dcterms:created xsi:type="dcterms:W3CDTF">2026-07-18T11:01:23Z</dcterms:created>
  <dcterms:modified xsi:type="dcterms:W3CDTF">2026-07-18T11:01:23Z</dcterms:modified>
</cp:coreProperties>
</file>