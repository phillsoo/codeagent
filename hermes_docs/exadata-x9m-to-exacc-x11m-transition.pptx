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Base System을 단순한 X11M 세대 업그레이드로 설명하지 않는다.,Published specifications의 측정 방식이 일부 다르므로 실제 sizing은 AWR/ASH/Exachk/Capacity Planning으로 재검증한다.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X9M 190 TB and ExaCC Base 106 TB are published usable capacity after ASM high redundancy and drive-failure recovery.,Customer ASM allocated/used, backup retention and growth must be re-sized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 Cloud Operations는 physical DB/storage servers, PDU, RoCE, management switch, control plane servers, KVM, Exadata System Software/firmware를 관리한다.,고객은 DB VM root와 DBA 권한을 가지며 OS/DB update 일정을 관리한다.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VM Clusters are an architecture recommendation to isolate Grid Infrastructure and database lifecycle.,Oracle documentation: choose GI 19c or 26ai at VM Cluster creation; 26ai DB requires GI 26ai. Minimum: guest Exadata System Software 23.1.8 and infrastructure 23.1.x.,Final availability must be validated in the target tenancy/region and MOS 742060.1.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assumes ZDM Physical Online with Data Guard. Confirm source configuration and ZDM support before implementation.,Approved runbook must define write-stop authority, Data Guard role, reverse replication or restore path, RPO/RTO, DNS TTL, connection-pool draining, validation queries and rehearsal evidence.,No X9M retirement until acceptance, backup restore test and failback window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convert the published maxima into a GO threshold. A business-approved design limit must be lower and supported by representative workload test evidence.,The Standard column is one HC-with-XRMEM example, not an assertion that HC and EF have the same capacity.,For Base, external client/backup 100 Gb adapters are not listed; validate customer network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첨부: exadata-cloud-infrastructure-x9m.pdf (v1.11, 2024),[2] 첨부: Exadata-X11M-DS-FINAL_ko_KR.pdf (DB Machine v1.2, 2025),[3] https://www.oracle.com/a/ocom/docs/engineered-systems/exadata/exadb-cc-x11m-ds.pdf,[4] https://docs.oracle.com/en/engineered-systems/exadata-cloud-at-customer/ecccm/ecc-manage-vm-clusters.html,Before deployment, validate current Oracle support notes and OCI Console options because cloud service capabilities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0" y="182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839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EXADATA MODERNIZATION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FINDING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Quarter → ExaCC X11M Base는 “위치·규모·계약”의 동시 전환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양쪽 모두 Oracle 관리형 Exadata지만, OCI 리전에서 고객 데이터센터로 이동하며 Base의 자원 envelope는 크게 작아진다.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63040"/>
            <a:ext cx="11173968" cy="960120"/>
          </a:xfrm>
          <a:prstGeom prst="roundRect">
            <a:avLst>
              <a:gd name="adj" fmla="val 7619"/>
            </a:avLst>
          </a:prstGeom>
          <a:solidFill>
            <a:srgbClr val="23171A"/>
          </a:solidFill>
          <a:ln w="12700">
            <a:solidFill>
              <a:srgbClr val="6D342D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73352"/>
            <a:ext cx="1024128" cy="292608"/>
          </a:xfrm>
          <a:prstGeom prst="roundRect">
            <a:avLst>
              <a:gd name="adj" fmla="val 28125"/>
            </a:avLst>
          </a:prstGeom>
          <a:solidFill>
            <a:srgbClr val="4A2221"/>
          </a:solidFill>
          <a:ln w="12700">
            <a:solidFill>
              <a:srgbClr val="4A22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7335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1618488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X9M Quarter 사용량을 측정하지 않고 Base System으로 고정하면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22208" y="16184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성능·용량 회귀 위험이 크다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20240" y="1938528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적합성 검증 후, 기준 초과 시 X11M Elastic Standard + HC/EF로 재산정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660904"/>
            <a:ext cx="3621024" cy="2121408"/>
          </a:xfrm>
          <a:prstGeom prst="roundRect">
            <a:avLst>
              <a:gd name="adj" fmla="val 3448"/>
            </a:avLst>
          </a:prstGeom>
          <a:solidFill>
            <a:srgbClr val="111925"/>
          </a:solidFill>
          <a:ln w="12700">
            <a:solidFill>
              <a:srgbClr val="2A394E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8803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Smaller envelope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172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DB + 3 Storage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5478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 수만 동일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252→60 usable cores, XRMEM 4.5TB→없음, usable disk 190→106TB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288536" y="2660904"/>
            <a:ext cx="3621024" cy="2121408"/>
          </a:xfrm>
          <a:prstGeom prst="roundRect">
            <a:avLst>
              <a:gd name="adj" fmla="val 3448"/>
            </a:avLst>
          </a:prstGeom>
          <a:solidFill>
            <a:srgbClr val="111925"/>
          </a:solidFill>
          <a:ln w="12700">
            <a:solidFill>
              <a:srgbClr val="2A394E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28803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Data location shift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07992" y="3172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Region → 고객 DC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07992" y="35478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책임은 유사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07992" y="393192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Oracle은 양쪽 모두 infra 운영; VCN에서 고객 VLAN·방화벽 경계로 이동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065008" y="2660904"/>
            <a:ext cx="3621024" cy="2121408"/>
          </a:xfrm>
          <a:prstGeom prst="roundRect">
            <a:avLst>
              <a:gd name="adj" fmla="val 3448"/>
            </a:avLst>
          </a:prstGeom>
          <a:solidFill>
            <a:srgbClr val="111925"/>
          </a:solidFill>
          <a:ln w="12700">
            <a:solidFill>
              <a:srgbClr val="2A394E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84464" y="28803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Version coexistence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84464" y="3172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 + 26ai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84464" y="35478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1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VM Cluster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84464" y="393192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GI/DB Home lifecycle을 분리해 리스크와 patch coupling을 축소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2064" y="5029200"/>
            <a:ext cx="11173968" cy="1078992"/>
          </a:xfrm>
          <a:prstGeom prst="roundRect">
            <a:avLst>
              <a:gd name="adj" fmla="val 6780"/>
            </a:avLst>
          </a:prstGeom>
          <a:solidFill>
            <a:srgbClr val="0D1822"/>
          </a:solidFill>
          <a:ln w="12700">
            <a:solidFill>
              <a:srgbClr val="264151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" y="5248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순서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01952" y="5202936"/>
            <a:ext cx="38404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04872" y="5212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AWR·용량·IOPS 측정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5257800"/>
            <a:ext cx="201168" cy="164592"/>
          </a:xfrm>
          <a:prstGeom prst="chevron">
            <a:avLst/>
          </a:prstGeom>
          <a:solidFill>
            <a:srgbClr val="335168"/>
          </a:solidFill>
          <a:ln w="12700">
            <a:solidFill>
              <a:srgbClr val="3351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5202936"/>
            <a:ext cx="38404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82312" y="5212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sizing gate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5257800"/>
            <a:ext cx="201168" cy="164592"/>
          </a:xfrm>
          <a:prstGeom prst="chevron">
            <a:avLst/>
          </a:prstGeom>
          <a:solidFill>
            <a:srgbClr val="335168"/>
          </a:solidFill>
          <a:ln w="12700">
            <a:solidFill>
              <a:srgbClr val="3351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6832" y="5202936"/>
            <a:ext cx="38404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59752" y="5212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 먼저 이전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86800" y="5257800"/>
            <a:ext cx="201168" cy="164592"/>
          </a:xfrm>
          <a:prstGeom prst="chevron">
            <a:avLst/>
          </a:prstGeom>
          <a:solidFill>
            <a:srgbClr val="335168"/>
          </a:solidFill>
          <a:ln w="12700">
            <a:solidFill>
              <a:srgbClr val="3351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34272" y="5202936"/>
            <a:ext cx="38404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34272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537192" y="5212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26ai 신규/전환 분리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" y="57150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 조건: Base published limits 안에 실제 peak + 성장 + HA/backup headroom이 들어올 것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첨부 X9M Cloud Infrastructure DS v1.11 · ExaCC X11M DS v1.5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PUBLISHED SPECIFICATIONS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 수만 2+3으로 동일 — ExaCC Base의 자원 envelope는 더 작다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HC 구성 기준 비교 · 코어 과금 단위는 세대가 달라 usable core와 실측 workload 중심으로 판단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63040"/>
            <a:ext cx="2322576" cy="429768"/>
          </a:xfrm>
          <a:prstGeom prst="rect">
            <a:avLst/>
          </a:prstGeom>
          <a:solidFill>
            <a:srgbClr val="182331"/>
          </a:solidFill>
          <a:ln w="8890">
            <a:solidFill>
              <a:srgbClr val="3646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1790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834640" y="1463040"/>
            <a:ext cx="3703320" cy="429768"/>
          </a:xfrm>
          <a:prstGeom prst="rect">
            <a:avLst/>
          </a:prstGeom>
          <a:solidFill>
            <a:srgbClr val="263449"/>
          </a:solidFill>
          <a:ln w="8890">
            <a:solidFill>
              <a:srgbClr val="3646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517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Cloud Infra Quarter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537960" y="1463040"/>
            <a:ext cx="3703320" cy="429768"/>
          </a:xfrm>
          <a:prstGeom prst="rect">
            <a:avLst/>
          </a:prstGeom>
          <a:solidFill>
            <a:srgbClr val="173A3D"/>
          </a:solidFill>
          <a:ln w="8890">
            <a:solidFill>
              <a:srgbClr val="3646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517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ExaCC X11M Base System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0241280" y="1463040"/>
            <a:ext cx="1261872" cy="429768"/>
          </a:xfrm>
          <a:prstGeom prst="rect">
            <a:avLst/>
          </a:prstGeom>
          <a:solidFill>
            <a:srgbClr val="182331"/>
          </a:solidFill>
          <a:ln w="8890">
            <a:solidFill>
              <a:srgbClr val="3646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0" y="15179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2064" y="1892808"/>
            <a:ext cx="2322576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구성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34640" y="1892808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1938528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DB + 3 HC/EF Storage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537960" y="1892808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938528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Base DB + 3 Base Storage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0241280" y="1892808"/>
            <a:ext cx="1261872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41864" y="1938528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12064" y="2432304"/>
            <a:ext cx="2322576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47802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compute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834640" y="2432304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35224" y="2478024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 usable cores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(OCPU 기반 서비스 세대)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537960" y="2432304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2478024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 usable cores / 240 ECPUs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0241280" y="2432304"/>
            <a:ext cx="1261872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41864" y="2478024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76%↓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12064" y="2971800"/>
            <a:ext cx="2322576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01752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 memory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834640" y="2971800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3017520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2,780 GB available to VMs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537960" y="2971800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3017520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1,320 GB available to VMs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10241280" y="2971800"/>
            <a:ext cx="1261872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41864" y="301752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53%↓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12064" y="3511296"/>
            <a:ext cx="2322576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557016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HC 구성 저장 계층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2834640" y="3511296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35224" y="3557016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190 TB usable disk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76.8 TB flash + 4.5 TB XRMEM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537960" y="3511296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3557016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106 TB usable disk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38.4 TB flash cache · no XRMEM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10241280" y="3511296"/>
            <a:ext cx="1261872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41864" y="3557016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44%↓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12064" y="4050792"/>
            <a:ext cx="2322576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409651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SQL read IOPS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2834640" y="4050792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35224" y="4096512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5.6M SQL read IOPS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537960" y="4050792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8544" y="4096512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597K SQL read IOPS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10241280" y="4050792"/>
            <a:ext cx="1261872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41864" y="4096512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89%↓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12064" y="4590288"/>
            <a:ext cx="2322576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" y="463600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SQL flash bandwidth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2834640" y="4590288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35224" y="4636008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135 GB/s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6537960" y="4590288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4636008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37.5 GB/s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10241280" y="4590288"/>
            <a:ext cx="1261872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41864" y="4636008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72%↓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512064" y="5129784"/>
            <a:ext cx="2322576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517550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 Cluster / System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2834640" y="5129784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35224" y="5175504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8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537960" y="5129784"/>
            <a:ext cx="3703320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38544" y="5175504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12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0241280" y="5129784"/>
            <a:ext cx="1261872" cy="539496"/>
          </a:xfrm>
          <a:prstGeom prst="rect">
            <a:avLst/>
          </a:prstGeom>
          <a:solidFill>
            <a:srgbClr val="101925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41864" y="5175504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512064" y="5669280"/>
            <a:ext cx="2322576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" y="571500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배치·계약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2834640" y="5669280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35224" y="5715000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리전 · 최소 48시간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6537960" y="5669280"/>
            <a:ext cx="3703320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8544" y="5715000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DC · infra 최소 4년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10241280" y="5669280"/>
            <a:ext cx="1261872" cy="539496"/>
          </a:xfrm>
          <a:prstGeom prst="rect">
            <a:avLst/>
          </a:prstGeom>
          <a:solidFill>
            <a:srgbClr val="0D1621"/>
          </a:solidFill>
          <a:ln w="8255">
            <a:solidFill>
              <a:srgbClr val="33445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41864" y="571500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512064" y="6263640"/>
            <a:ext cx="11173968" cy="164592"/>
          </a:xfrm>
          <a:prstGeom prst="roundRect">
            <a:avLst>
              <a:gd name="adj" fmla="val 11111"/>
            </a:avLst>
          </a:prstGeom>
          <a:solidFill>
            <a:srgbClr val="161E2A"/>
          </a:solidFill>
          <a:ln w="12700">
            <a:solidFill>
              <a:srgbClr val="161E2A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621792" y="6254496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EF는 저장 비교에서 제외 · OCPU/ECPU는 직접 등가 비교 불가 · Published maximum은 workload 보장치가 아님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첨부 X9M Cloud Infrastructure DS v1.11 Table 1 · ExaCC X11M DS v1.5 Table 1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공통점은 Oracle infra 운영, 차이는 데이터 위치와 네트워크 경계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Cloud Infrastructure는 OCI 리전, ExaCC는 고객 데이터센터 안에서 Cloud Control Plane 경험을 제공한다.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63040"/>
            <a:ext cx="5394960" cy="4425696"/>
          </a:xfrm>
          <a:prstGeom prst="roundRect">
            <a:avLst>
              <a:gd name="adj" fmla="val 1653"/>
            </a:avLst>
          </a:prstGeom>
          <a:solidFill>
            <a:srgbClr val="131A25"/>
          </a:solidFill>
          <a:ln w="12700">
            <a:solidFill>
              <a:srgbClr val="3A4557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81928" y="1463040"/>
            <a:ext cx="5394960" cy="4425696"/>
          </a:xfrm>
          <a:prstGeom prst="roundRect">
            <a:avLst>
              <a:gd name="adj" fmla="val 1653"/>
            </a:avLst>
          </a:prstGeom>
          <a:solidFill>
            <a:srgbClr val="0F1D25"/>
          </a:solidFill>
          <a:ln w="12700">
            <a:solidFill>
              <a:srgbClr val="28515A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00784"/>
            <a:ext cx="768096" cy="292608"/>
          </a:xfrm>
          <a:prstGeom prst="roundRect">
            <a:avLst>
              <a:gd name="adj" fmla="val 28125"/>
            </a:avLst>
          </a:prstGeom>
          <a:solidFill>
            <a:srgbClr val="303A49"/>
          </a:solidFill>
          <a:ln w="12700">
            <a:solidFill>
              <a:srgbClr val="303A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0078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Cloud Infrastructure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519672" y="1700784"/>
            <a:ext cx="74980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19672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ExaCC X11M Base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8096" y="26426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위치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93392" y="264261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Cloud OCI Region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" y="2980944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93392" y="3182112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Cloud Operations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" y="3520440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7216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Database/OS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2160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DBA + VM root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8096" y="4059936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2611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경계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93392" y="426110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VCN · 50 GbE 연결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" y="4599432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8006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480060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pay-per-use · 최소 48시간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6426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위치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63256" y="264261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Data Center · 방화벽 내부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2980944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63256" y="3182112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Cloud Operations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37960" y="3520440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7216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Database/OS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63256" y="372160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DBA + VM root access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4059936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2611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경계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63256" y="426110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VLAN · Base는 10/25 또는 10 Gb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4599432"/>
            <a:ext cx="4828032" cy="0"/>
          </a:xfrm>
          <a:prstGeom prst="line">
            <a:avLst/>
          </a:prstGeom>
          <a:noFill/>
          <a:ln w="6985">
            <a:solidFill>
              <a:srgbClr val="2835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8006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63256" y="480060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 subscription · 최소 4년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2064" y="6108192"/>
            <a:ext cx="11173968" cy="283464"/>
          </a:xfrm>
          <a:prstGeom prst="roundRect">
            <a:avLst>
              <a:gd name="adj" fmla="val 12903"/>
            </a:avLst>
          </a:prstGeom>
          <a:solidFill>
            <a:srgbClr val="201B17"/>
          </a:solidFill>
          <a:ln w="12700">
            <a:solidFill>
              <a:srgbClr val="514226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4088" y="6144768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책임 경계: Oracle은 물리 서버·RoCE·KVM·Exadata System Software, 고객은 VM/OS·Grid/DB·데이터·접근권한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첨부 X9M Cloud Infrastructure DS pp.6–10 · ExaCC X11M DS v1.5 pp.1, 6–10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인프라에 19c와 26ai를 “분리된 VM Cluster”로 병행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아키텍처: 26ai DB에는 GI 26ai가 필요하며, major version별 lifecycle 격리로 patch coupling을 줄인다.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90472"/>
            <a:ext cx="1901952" cy="1152144"/>
          </a:xfrm>
          <a:prstGeom prst="roundRect">
            <a:avLst>
              <a:gd name="adj" fmla="val 6349"/>
            </a:avLst>
          </a:prstGeom>
          <a:solidFill>
            <a:srgbClr val="121A2A"/>
          </a:solidFill>
          <a:ln w="12700">
            <a:solidFill>
              <a:srgbClr val="2D4362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82496"/>
            <a:ext cx="1426464" cy="292608"/>
          </a:xfrm>
          <a:prstGeom prst="roundRect">
            <a:avLst>
              <a:gd name="adj" fmla="val 28125"/>
            </a:avLst>
          </a:prstGeom>
          <a:solidFill>
            <a:srgbClr val="1B2B46"/>
          </a:solidFill>
          <a:ln w="12700">
            <a:solidFill>
              <a:srgbClr val="1B2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824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CONTROL PLANE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 · REST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228600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 · patch · backup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98064" y="1389888"/>
            <a:ext cx="8887968" cy="4736592"/>
          </a:xfrm>
          <a:prstGeom prst="roundRect">
            <a:avLst>
              <a:gd name="adj" fmla="val 1544"/>
            </a:avLst>
          </a:prstGeom>
          <a:solidFill>
            <a:srgbClr val="0C131D">
              <a:alpha val="82000"/>
            </a:srgbClr>
          </a:solidFill>
          <a:ln w="16510">
            <a:solidFill>
              <a:srgbClr val="3B4B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581912"/>
            <a:ext cx="1600200" cy="292608"/>
          </a:xfrm>
          <a:prstGeom prst="roundRect">
            <a:avLst>
              <a:gd name="adj" fmla="val 28125"/>
            </a:avLst>
          </a:prstGeom>
          <a:solidFill>
            <a:srgbClr val="202B3A"/>
          </a:solidFill>
          <a:ln w="12700">
            <a:solidFill>
              <a:srgbClr val="20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5819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CUSTOMER DATA CENTER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14016" y="2029968"/>
            <a:ext cx="1161288" cy="0"/>
          </a:xfrm>
          <a:prstGeom prst="line">
            <a:avLst/>
          </a:prstGeom>
          <a:noFill/>
          <a:ln w="25400">
            <a:solidFill>
              <a:srgbClr val="61A8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340864" y="1783080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secure tunnel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36976" y="1965960"/>
            <a:ext cx="1344168" cy="1005840"/>
          </a:xfrm>
          <a:prstGeom prst="roundRect">
            <a:avLst>
              <a:gd name="adj" fmla="val 5455"/>
            </a:avLst>
          </a:prstGeom>
          <a:solidFill>
            <a:srgbClr val="142133"/>
          </a:solidFill>
          <a:ln w="12700">
            <a:solidFill>
              <a:srgbClr val="2D4362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74136" y="219456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Plane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Servers ×2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76148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availability와 분리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892040" y="1883664"/>
            <a:ext cx="6455664" cy="4069080"/>
          </a:xfrm>
          <a:prstGeom prst="roundRect">
            <a:avLst>
              <a:gd name="adj" fmla="val 1348"/>
            </a:avLst>
          </a:prstGeom>
          <a:solidFill>
            <a:srgbClr val="131C28"/>
          </a:solidFill>
          <a:ln w="12700">
            <a:solidFill>
              <a:srgbClr val="4A607D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02936" y="2084832"/>
            <a:ext cx="2377440" cy="292608"/>
          </a:xfrm>
          <a:prstGeom prst="roundRect">
            <a:avLst>
              <a:gd name="adj" fmla="val 28125"/>
            </a:avLst>
          </a:prstGeom>
          <a:solidFill>
            <a:srgbClr val="2A3545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2936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X11M BASE SYSTEM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30368" y="2395728"/>
            <a:ext cx="2313432" cy="292608"/>
          </a:xfrm>
          <a:prstGeom prst="roundRect">
            <a:avLst>
              <a:gd name="adj" fmla="val 28125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39572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C7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 LAYER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30368" y="2779776"/>
            <a:ext cx="1005840" cy="841248"/>
          </a:xfrm>
          <a:prstGeom prst="roundRect">
            <a:avLst>
              <a:gd name="adj" fmla="val 6522"/>
            </a:avLst>
          </a:prstGeom>
          <a:solidFill>
            <a:srgbClr val="162131"/>
          </a:solidFill>
          <a:ln w="12700">
            <a:solidFill>
              <a:srgbClr val="33445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58384" y="2926080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2953512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58384" y="3090672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176" y="3118104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58384" y="3255264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3282696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3741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DB-1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537960" y="2779776"/>
            <a:ext cx="1005840" cy="841248"/>
          </a:xfrm>
          <a:prstGeom prst="roundRect">
            <a:avLst>
              <a:gd name="adj" fmla="val 6522"/>
            </a:avLst>
          </a:prstGeom>
          <a:solidFill>
            <a:srgbClr val="162131"/>
          </a:solidFill>
          <a:ln w="12700">
            <a:solidFill>
              <a:srgbClr val="33445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65976" y="2926080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7768" y="2953512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5976" y="3090672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87768" y="3118104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65976" y="3255264"/>
            <a:ext cx="74980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87768" y="3282696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3741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DB-2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5184648" y="3685032"/>
            <a:ext cx="2395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 usable cores · 240 ECPUs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39512" y="3968496"/>
            <a:ext cx="2304288" cy="0"/>
          </a:xfrm>
          <a:prstGeom prst="line">
            <a:avLst/>
          </a:prstGeom>
          <a:noFill/>
          <a:ln w="31750">
            <a:solidFill>
              <a:srgbClr val="45C7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4023360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5C7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Gb/s RoCE internal fabric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138928" y="4416552"/>
            <a:ext cx="694944" cy="758952"/>
          </a:xfrm>
          <a:prstGeom prst="roundRect">
            <a:avLst>
              <a:gd name="adj" fmla="val 5263"/>
            </a:avLst>
          </a:prstGeom>
          <a:solidFill>
            <a:srgbClr val="172330"/>
          </a:solidFill>
          <a:ln w="12700">
            <a:solidFill>
              <a:srgbClr val="3C4D61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138928" y="453542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STG-1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38928" y="47914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4416552"/>
            <a:ext cx="694944" cy="758952"/>
          </a:xfrm>
          <a:prstGeom prst="roundRect">
            <a:avLst>
              <a:gd name="adj" fmla="val 5263"/>
            </a:avLst>
          </a:prstGeom>
          <a:solidFill>
            <a:srgbClr val="172330"/>
          </a:solidFill>
          <a:ln w="12700">
            <a:solidFill>
              <a:srgbClr val="3C4D61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89320" y="453542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STG-2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89320" y="47914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39712" y="4416552"/>
            <a:ext cx="694944" cy="758952"/>
          </a:xfrm>
          <a:prstGeom prst="roundRect">
            <a:avLst>
              <a:gd name="adj" fmla="val 5263"/>
            </a:avLst>
          </a:prstGeom>
          <a:solidFill>
            <a:srgbClr val="172330"/>
          </a:solidFill>
          <a:ln w="12700">
            <a:solidFill>
              <a:srgbClr val="3C4D61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39712" y="453542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STG-3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39712" y="47914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102352" y="5285232"/>
            <a:ext cx="2596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106 TB usable disk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5084064" y="552297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38.4 TB flash · no XRMEM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193024" y="1901952"/>
            <a:ext cx="3154680" cy="1536192"/>
          </a:xfrm>
          <a:prstGeom prst="roundRect">
            <a:avLst>
              <a:gd name="adj" fmla="val 3571"/>
            </a:avLst>
          </a:prstGeom>
          <a:solidFill>
            <a:srgbClr val="10222A"/>
          </a:solidFill>
          <a:ln w="12700">
            <a:solidFill>
              <a:srgbClr val="27606A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412480" y="2103120"/>
            <a:ext cx="1024128" cy="292608"/>
          </a:xfrm>
          <a:prstGeom prst="roundRect">
            <a:avLst>
              <a:gd name="adj" fmla="val 28125"/>
            </a:avLst>
          </a:prstGeom>
          <a:solidFill>
            <a:srgbClr val="173D42"/>
          </a:solidFill>
          <a:ln w="12700">
            <a:solidFill>
              <a:srgbClr val="173D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0" y="210312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 CLUSTER 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412480" y="2459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Database 19c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412480" y="27614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 19c · DB Home 19c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412480" y="303580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CPU·memory·storage: AWR sizing 후 할당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8193024" y="3694176"/>
            <a:ext cx="3154680" cy="1536192"/>
          </a:xfrm>
          <a:prstGeom prst="roundRect">
            <a:avLst>
              <a:gd name="adj" fmla="val 3571"/>
            </a:avLst>
          </a:prstGeom>
          <a:solidFill>
            <a:srgbClr val="1A1730"/>
          </a:solidFill>
          <a:ln w="12700">
            <a:solidFill>
              <a:srgbClr val="4C3977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412480" y="3895344"/>
            <a:ext cx="1024128" cy="292608"/>
          </a:xfrm>
          <a:prstGeom prst="roundRect">
            <a:avLst>
              <a:gd name="adj" fmla="val 28125"/>
            </a:avLst>
          </a:prstGeom>
          <a:solidFill>
            <a:srgbClr val="332452"/>
          </a:solidFill>
          <a:ln w="12700">
            <a:solidFill>
              <a:srgbClr val="3324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0" y="389534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1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 CLUSTER B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124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AI Database 26ai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412480" y="455371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1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 26ai · DB Home 26ai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412480" y="482803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CPU·memory·storage: 별도 sizing/승인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7891272" y="2907792"/>
            <a:ext cx="301752" cy="0"/>
          </a:xfrm>
          <a:prstGeom prst="line">
            <a:avLst/>
          </a:prstGeom>
          <a:noFill/>
          <a:ln w="2032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891272" y="4498848"/>
            <a:ext cx="301752" cy="0"/>
          </a:xfrm>
          <a:prstGeom prst="line">
            <a:avLst/>
          </a:prstGeom>
          <a:noFill/>
          <a:ln w="20320">
            <a:solidFill>
              <a:srgbClr val="B18CF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412480" y="5449824"/>
            <a:ext cx="2688336" cy="292608"/>
          </a:xfrm>
          <a:prstGeom prst="roundRect">
            <a:avLst>
              <a:gd name="adj" fmla="val 28125"/>
            </a:avLst>
          </a:prstGeom>
          <a:solidFill>
            <a:srgbClr val="3A301F"/>
          </a:solidFill>
          <a:ln w="12700">
            <a:solidFill>
              <a:srgbClr val="3A30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544982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2개 · 시스템 최대 12 VM Clusters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065008" y="5760720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분리 · CPU/Memory 별도 할당 · 공용 Exadata Storage</a:t>
            </a:r>
            <a:endParaRPr lang="en-US" sz="830" dirty="0"/>
          </a:p>
        </p:txBody>
      </p:sp>
      <p:sp>
        <p:nvSpPr>
          <p:cNvPr id="70" name="Text 68"/>
          <p:cNvSpPr/>
          <p:nvPr/>
        </p:nvSpPr>
        <p:spPr>
          <a:xfrm>
            <a:off x="3154680" y="53766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 / Backup VLAN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[2] X11M DS Table 1 · [4] Manage VM Clusters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TRANSITION BLUEPRINT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 baseline: ZDM Physical Online → 26ai는 별도 lifecycle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Guard 기반 online migration을 기준으로 abort·fallback·failback을 target write 시점에 따라 구분한다.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536192"/>
            <a:ext cx="1874520" cy="3493008"/>
          </a:xfrm>
          <a:prstGeom prst="roundRect">
            <a:avLst>
              <a:gd name="adj" fmla="val 3415"/>
            </a:avLst>
          </a:prstGeom>
          <a:solidFill>
            <a:srgbClr val="171D28"/>
          </a:solidFill>
          <a:ln w="12700">
            <a:solidFill>
              <a:srgbClr val="3E4859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764792"/>
            <a:ext cx="749808" cy="292608"/>
          </a:xfrm>
          <a:prstGeom prst="roundRect">
            <a:avLst>
              <a:gd name="adj" fmla="val 28125"/>
            </a:avLst>
          </a:prstGeom>
          <a:solidFill>
            <a:srgbClr val="333C49"/>
          </a:solidFill>
          <a:ln w="12700">
            <a:solidFill>
              <a:srgbClr val="333C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647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X9M Quarter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23544" y="2633472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162131"/>
          </a:solidFill>
          <a:ln w="12700">
            <a:solidFill>
              <a:srgbClr val="33445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2779776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2807208"/>
            <a:ext cx="41148" cy="4114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944368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2971800"/>
            <a:ext cx="41148" cy="4114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108960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9072" y="3136392"/>
            <a:ext cx="41148" cy="4114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32278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 19c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58952" y="36850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DB + 3 Storage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" y="40873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PRIMARY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" y="4334256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switchover 전까지 write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802368" y="1536192"/>
            <a:ext cx="1874520" cy="3493008"/>
          </a:xfrm>
          <a:prstGeom prst="roundRect">
            <a:avLst>
              <a:gd name="adj" fmla="val 3415"/>
            </a:avLst>
          </a:prstGeom>
          <a:solidFill>
            <a:srgbClr val="10222A"/>
          </a:solidFill>
          <a:ln w="12700">
            <a:solidFill>
              <a:srgbClr val="2B5F68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0" y="1764792"/>
            <a:ext cx="74980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17647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21824" y="215798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ExaCC X11M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213848" y="2633472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162131"/>
          </a:solidFill>
          <a:ln w="12700">
            <a:solidFill>
              <a:srgbClr val="33445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41864" y="2779776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09376" y="2807208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41864" y="2944368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09376" y="2971800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41864" y="3108960"/>
            <a:ext cx="795528" cy="109728"/>
          </a:xfrm>
          <a:prstGeom prst="rect">
            <a:avLst/>
          </a:prstGeom>
          <a:solidFill>
            <a:srgbClr val="0B111A"/>
          </a:solidFill>
          <a:ln w="6350">
            <a:solidFill>
              <a:srgbClr val="384A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09376" y="3136392"/>
            <a:ext cx="41148" cy="411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13848" y="32278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10003536" y="36850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 Cluster 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03536" y="40782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PRIMARY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03536" y="43251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switchover 후 write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377440" y="2962656"/>
            <a:ext cx="7424928" cy="0"/>
          </a:xfrm>
          <a:prstGeom prst="line">
            <a:avLst/>
          </a:prstGeom>
          <a:noFill/>
          <a:ln w="38100">
            <a:solidFill>
              <a:srgbClr val="3451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05456" y="2624328"/>
            <a:ext cx="658368" cy="658368"/>
          </a:xfrm>
          <a:prstGeom prst="ellipse">
            <a:avLst/>
          </a:prstGeom>
          <a:solidFill>
            <a:srgbClr val="1F3447"/>
          </a:solidFill>
          <a:ln w="15240">
            <a:solidFill>
              <a:srgbClr val="61A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Assess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2157984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AWR · ASM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RPO/RTO · 성장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685032" y="2624328"/>
            <a:ext cx="658368" cy="658368"/>
          </a:xfrm>
          <a:prstGeom prst="ellipse">
            <a:avLst/>
          </a:prstGeom>
          <a:solidFill>
            <a:srgbClr val="1F3447"/>
          </a:solidFill>
          <a:ln w="15240">
            <a:solidFill>
              <a:srgbClr val="61A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5032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65576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337560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IAM · VLAN · 방화벽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DNS/NTP · backup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864608" y="2624328"/>
            <a:ext cx="658368" cy="658368"/>
          </a:xfrm>
          <a:prstGeom prst="diamond">
            <a:avLst/>
          </a:prstGeom>
          <a:solidFill>
            <a:srgbClr val="1F3447"/>
          </a:solidFill>
          <a:ln w="22860">
            <a:solidFill>
              <a:srgbClr val="F6B4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6320" y="238658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645152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517136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gate 통과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 Cluster 생성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044184" y="2624328"/>
            <a:ext cx="658368" cy="658368"/>
          </a:xfrm>
          <a:prstGeom prst="ellipse">
            <a:avLst/>
          </a:prstGeom>
          <a:solidFill>
            <a:srgbClr val="153B3A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44184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824728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Pre-copy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5696712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ZDM Physical Online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Guard sync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223760" y="2624328"/>
            <a:ext cx="658368" cy="658368"/>
          </a:xfrm>
          <a:prstGeom prst="diamond">
            <a:avLst/>
          </a:prstGeom>
          <a:solidFill>
            <a:srgbClr val="153B3A"/>
          </a:solidFill>
          <a:ln w="22860">
            <a:solidFill>
              <a:srgbClr val="F6B4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05472" y="238658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04304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Switchover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6876288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write stop · final sync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role/route 전환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403336" y="2624328"/>
            <a:ext cx="658368" cy="658368"/>
          </a:xfrm>
          <a:prstGeom prst="diamond">
            <a:avLst/>
          </a:prstGeom>
          <a:solidFill>
            <a:srgbClr val="153B3A"/>
          </a:solidFill>
          <a:ln w="22860">
            <a:solidFill>
              <a:srgbClr val="F6B4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03336" y="27340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85048" y="238658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183880" y="343814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Stabilize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8055864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· backup · HA/DR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acceptance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2505456" y="4608576"/>
            <a:ext cx="2212848" cy="822960"/>
          </a:xfrm>
          <a:prstGeom prst="roundRect">
            <a:avLst>
              <a:gd name="adj" fmla="val 5556"/>
            </a:avLst>
          </a:prstGeom>
          <a:solidFill>
            <a:srgbClr val="161C26"/>
          </a:solidFill>
          <a:ln w="12700">
            <a:solidFill>
              <a:srgbClr val="61A8FF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624328" y="472744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 · switchover 전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2615184" y="496519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primary 유지 · migration 중단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RPO 0 · route 변경 없음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4892040" y="4608576"/>
            <a:ext cx="2212848" cy="822960"/>
          </a:xfrm>
          <a:prstGeom prst="roundRect">
            <a:avLst>
              <a:gd name="adj" fmla="val 5556"/>
            </a:avLst>
          </a:prstGeom>
          <a:solidFill>
            <a:srgbClr val="161C26"/>
          </a:solidFill>
          <a:ln w="12700">
            <a:solidFill>
              <a:srgbClr val="F6B44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010912" y="472744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FALLBACK · target write 전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5001768" y="496519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X9M으로 route 복귀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write 0건 확인 필수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7278624" y="4608576"/>
            <a:ext cx="2212848" cy="822960"/>
          </a:xfrm>
          <a:prstGeom prst="roundRect">
            <a:avLst>
              <a:gd name="adj" fmla="val 5556"/>
            </a:avLst>
          </a:prstGeom>
          <a:solidFill>
            <a:srgbClr val="161C26"/>
          </a:solidFill>
          <a:ln w="12700">
            <a:solidFill>
              <a:srgbClr val="FF6B5E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397496" y="472744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FAILBACK · target write 후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7388352" y="496519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rollback 불가 · reverse DG/restore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RPO/RTO + rehearsal 필수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512064" y="5751576"/>
            <a:ext cx="11173968" cy="429768"/>
          </a:xfrm>
          <a:prstGeom prst="roundRect">
            <a:avLst>
              <a:gd name="adj" fmla="val 8511"/>
            </a:avLst>
          </a:prstGeom>
          <a:solidFill>
            <a:srgbClr val="131B26"/>
          </a:solidFill>
          <a:ln w="12700">
            <a:solidFill>
              <a:srgbClr val="283548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749808" y="58430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1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26ai는 19c landing과 분리: 새 VM Cluster → 새 DB Home → compatibility test → 별도 change approval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[2] X11M DS “Migration to ExaCC” · baseline runbook is an architecture recommendation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GATE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System은 “조건부 후보” — published maximum은 GO 기준이 아니다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threshold는 성장·N-1·backup/DR·배치 중첩·운영 안전율을 포함한 workload POC로 승인한다.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508760"/>
            <a:ext cx="3520440" cy="4261104"/>
          </a:xfrm>
          <a:prstGeom prst="roundRect">
            <a:avLst>
              <a:gd name="adj" fmla="val 2078"/>
            </a:avLst>
          </a:prstGeom>
          <a:solidFill>
            <a:srgbClr val="10242A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1746504"/>
            <a:ext cx="1755648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7465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· CANDIDATE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0664" y="21854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 ceiling 이하 + 검증된 headroom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" y="277977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6791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85/42 TB는 hard ceiling · target limit 별도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264408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16382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597K/37.5 GB/s는 max · GO threshold 금지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374904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64845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 + 성장 + N-1 + backup/DR 포함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423367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1330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workload POC가 SLA 충족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" y="47183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617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안전율을 business owner가 승인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1508760"/>
            <a:ext cx="3520440" cy="4261104"/>
          </a:xfrm>
          <a:prstGeom prst="roundRect">
            <a:avLst>
              <a:gd name="adj" fmla="val 2078"/>
            </a:avLst>
          </a:prstGeom>
          <a:solidFill>
            <a:srgbClr val="121F31"/>
          </a:solidFill>
          <a:ln w="12700">
            <a:solidFill>
              <a:srgbClr val="61A8FF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62856" y="1746504"/>
            <a:ext cx="1755648" cy="292608"/>
          </a:xfrm>
          <a:prstGeom prst="roundRect">
            <a:avLst>
              <a:gd name="adj" fmla="val 28125"/>
            </a:avLst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2856" y="17465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ELASTIC STD · 비교 후보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62856" y="21854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2 Std DB + 3 HC w/XRMEM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81144" y="2779776"/>
            <a:ext cx="109728" cy="109728"/>
          </a:xfrm>
          <a:prstGeom prst="ellipse">
            <a:avLst/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791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380 usable cores / 1,520 ECPUs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81144" y="3264408"/>
            <a:ext cx="109728" cy="109728"/>
          </a:xfrm>
          <a:prstGeom prst="ellipse">
            <a:avLst/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6382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240 TB usable HC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81144" y="3749040"/>
            <a:ext cx="109728" cy="109728"/>
          </a:xfrm>
          <a:prstGeom prst="ellipse">
            <a:avLst/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4845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81.6 TB flash + 3.75 TB XRMEM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81144" y="4233672"/>
            <a:ext cx="109728" cy="109728"/>
          </a:xfrm>
          <a:prstGeom prst="ellipse">
            <a:avLst/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1330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5.6M read IOPS · 300 GB/s flash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81144" y="4718304"/>
            <a:ext cx="109728" cy="109728"/>
          </a:xfrm>
          <a:prstGeom prst="ellipse">
            <a:avLst/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617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동급 아님 · license/POC 재산정 필수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56448" y="1508760"/>
            <a:ext cx="3520440" cy="4261104"/>
          </a:xfrm>
          <a:prstGeom prst="roundRect">
            <a:avLst>
              <a:gd name="adj" fmla="val 2078"/>
            </a:avLst>
          </a:prstGeom>
          <a:solidFill>
            <a:srgbClr val="28191C"/>
          </a:solidFill>
          <a:ln w="12700">
            <a:solidFill>
              <a:srgbClr val="FF6B5E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85048" y="1746504"/>
            <a:ext cx="1755648" cy="292608"/>
          </a:xfrm>
          <a:prstGeom prst="roundRect">
            <a:avLst>
              <a:gd name="adj" fmla="val 28125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17465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NO-GO · 재설계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85048" y="21854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확정 전 해소할 blocker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03336" y="2779776"/>
            <a:ext cx="109728" cy="10972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267919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DB size가 85/42 TB ceiling 초과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03336" y="3264408"/>
            <a:ext cx="109728" cy="10972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22792" y="316382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N-1·backup·배치 포함 시 SLA 실패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03336" y="3749040"/>
            <a:ext cx="109728" cy="10972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364845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client/backup network 설계 미충족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403336" y="4233672"/>
            <a:ext cx="109728" cy="10972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22792" y="41330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19c ZDM prerequisite/support 미확인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03336" y="4718304"/>
            <a:ext cx="109728" cy="10972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22792" y="4617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4년 계약·운영 책임 승인 없음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2064" y="5870448"/>
            <a:ext cx="11173968" cy="411480"/>
          </a:xfrm>
          <a:prstGeom prst="roundRect">
            <a:avLst>
              <a:gd name="adj" fmla="val 6667"/>
            </a:avLst>
          </a:prstGeom>
          <a:solidFill>
            <a:srgbClr val="211B17"/>
          </a:solidFill>
          <a:ln w="12700">
            <a:solidFill>
              <a:srgbClr val="8A6731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7512" y="5943600"/>
            <a:ext cx="10863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B4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 GATE · AWR/ASH · ASM/backup · workload POC · N-1/HA/DR rehearsal · network latency · MOS support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[2] X11M DS Table 1 · published maxima are not workload guarantees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37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&amp; GUARDRAILS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Datasheet 반영 범위와 배포 전 검증 조건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X9M 첨부는 Cloud Infrastructure v1.11, X11M 첨부는 Database Machine v1.2이며 ExaCC 고유 수치는 공식 v1.5로 보완했다.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2064" y="1499616"/>
            <a:ext cx="11173968" cy="804672"/>
          </a:xfrm>
          <a:prstGeom prst="roundRect">
            <a:avLst>
              <a:gd name="adj" fmla="val 5682"/>
            </a:avLst>
          </a:prstGeom>
          <a:solidFill>
            <a:srgbClr val="111925"/>
          </a:solidFill>
          <a:ln w="12700">
            <a:solidFill>
              <a:srgbClr val="29374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73352"/>
            <a:ext cx="402336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7335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0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· Exadata Cloud Infrastructure X9M DS v1.11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80160" y="1865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Quarter 2+3, 252 usable cores, 2,780GB VM memory, 190TB usable disk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382512" y="171907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첨부 X9M Cloud Infrastructure 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2487168"/>
            <a:ext cx="11173968" cy="804672"/>
          </a:xfrm>
          <a:prstGeom prst="roundRect">
            <a:avLst>
              <a:gd name="adj" fmla="val 5682"/>
            </a:avLst>
          </a:prstGeom>
          <a:solidFill>
            <a:srgbClr val="111925"/>
          </a:solidFill>
          <a:ln w="12700">
            <a:solidFill>
              <a:srgbClr val="29374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660904"/>
            <a:ext cx="402336" cy="292608"/>
          </a:xfrm>
          <a:prstGeom prst="roundRect">
            <a:avLst>
              <a:gd name="adj" fmla="val 281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6090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80160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· Exadata Database Machine X11M DS v1.2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2852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X11M 하드웨어, DDR5/PCIe 5.0, XRMEM, AI Smart Scan, Exascale 맥락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382512" y="2706624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[2] 첨부 X11M Database Machine 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" y="3474720"/>
            <a:ext cx="11173968" cy="804672"/>
          </a:xfrm>
          <a:prstGeom prst="roundRect">
            <a:avLst>
              <a:gd name="adj" fmla="val 5682"/>
            </a:avLst>
          </a:prstGeom>
          <a:solidFill>
            <a:srgbClr val="111925"/>
          </a:solidFill>
          <a:ln w="12700">
            <a:solidFill>
              <a:srgbClr val="29374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648456"/>
            <a:ext cx="402336" cy="292608"/>
          </a:xfrm>
          <a:prstGeom prst="roundRect">
            <a:avLst>
              <a:gd name="adj" fmla="val 28125"/>
            </a:avLst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484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8016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ExaCC X11M Data Sheet v1.5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specs, 책임 모델, 4년 infrastructure subscription, ZDM 권고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382512" y="3694176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[3] ExaCC X11M DS Table 1, pp.6–11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" y="4462272"/>
            <a:ext cx="11173968" cy="804672"/>
          </a:xfrm>
          <a:prstGeom prst="roundRect">
            <a:avLst>
              <a:gd name="adj" fmla="val 5682"/>
            </a:avLst>
          </a:prstGeom>
          <a:solidFill>
            <a:srgbClr val="111925"/>
          </a:solidFill>
          <a:ln w="12700">
            <a:solidFill>
              <a:srgbClr val="29374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636008"/>
            <a:ext cx="402336" cy="292608"/>
          </a:xfrm>
          <a:prstGeom prst="roundRect">
            <a:avLst>
              <a:gd name="adj" fmla="val 28125"/>
            </a:avLst>
          </a:prstGeom>
          <a:solidFill>
            <a:srgbClr val="61A8FF"/>
          </a:solidFill>
          <a:ln w="12700">
            <a:solidFill>
              <a:srgbClr val="61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63600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0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80160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Manage VM Clusters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80160" y="4828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 19c/26ai 선택, 26ai DB의 GI 26ai 요구사항과 software minimum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1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[4] VM Cluster administration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" y="5559552"/>
            <a:ext cx="11173968" cy="621792"/>
          </a:xfrm>
          <a:prstGeom prst="roundRect">
            <a:avLst>
              <a:gd name="adj" fmla="val 7353"/>
            </a:avLst>
          </a:prstGeom>
          <a:solidFill>
            <a:srgbClr val="241B17"/>
          </a:solidFill>
          <a:ln w="12700">
            <a:solidFill>
              <a:srgbClr val="5B3C2B"/>
            </a:solidFill>
            <a:prstDash val="solid"/>
          </a:ln>
          <a:effectLst>
            <a:outerShdw sx="100000" sy="100000" kx="0" ky="0" algn="bl" rotWithShape="0" blurRad="50800" dist="17780" dir="2700000">
              <a:srgbClr val="000000">
                <a:alpha val="2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" y="566928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ACTION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5614416"/>
            <a:ext cx="9464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7F9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고객 DBA/Infra + Oracle · AWR/ASM sizing, MOS/RU·GI 검증, network readiness · 상세설계 착수 전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874520" y="587044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D9E1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Shape 제공 여부 · Guest image · 라이선스 · ZDM 경로 · 승인 RPO/RTO 재확인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12064" y="6428232"/>
            <a:ext cx="11173968" cy="0"/>
          </a:xfrm>
          <a:prstGeom prst="line">
            <a:avLst/>
          </a:prstGeom>
          <a:noFill/>
          <a:ln w="8890">
            <a:solidFill>
              <a:srgbClr val="2632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64922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Nexus IT · Architecture review draft · 2026-07-23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6473952"/>
            <a:ext cx="6784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A8B4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architecture · not deployment approval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19672"/>
            <a:ext cx="18288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7D9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Exadata X9M Quarter Rack → ExaCC X11M Base System</dc:title>
  <dc:subject>Exadata X9M Quarter Rack to Exadata Cloud@Customer X11M Base System transition</dc:subject>
  <dc:creator>Astra · Nexus IT</dc:creator>
  <cp:lastModifiedBy>Astra · Nexus IT</cp:lastModifiedBy>
  <cp:revision>1</cp:revision>
  <dcterms:created xsi:type="dcterms:W3CDTF">2026-07-23T15:28:40Z</dcterms:created>
  <dcterms:modified xsi:type="dcterms:W3CDTF">2026-07-23T15:28:40Z</dcterms:modified>
</cp:coreProperties>
</file>