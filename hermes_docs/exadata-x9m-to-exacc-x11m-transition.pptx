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메시지: Base System을 단순한 X11M 세대 업그레이드로 설명하지 않는다.,Published specifications의 측정 방식이 일부 다르므로 실제 sizing은 AWR/ASH/Exachk/Capacity Planning으로 재검증한다.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X9M 190 TB and ExaCC Base 106 TB are published usable capacity after ASM high redundancy and drive-failure recovery.,Customer ASM allocated/used, backup retention and growth must be re-sized independently.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Oracle Cloud Operations는 physical DB/storage servers, PDU, RoCE, management switch, control plane servers, KVM, Exadata System Software/firmware를 관리한다.,고객은 DB VM root와 DBA 권한을 가지며 OS/DB update 일정을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VM Clusters are an architecture recommendation to isolate Grid Infrastructure and database lifecycle.,Oracle documentation: choose GI 19c or 26ai at VM Cluster creation; 26ai DB requires GI 26ai. Minimum: guest Exadata System Software 23.1.8 and infrastructure 23.1.x.,Final availability must be validated in the target tenancy/region and MOS 742060.1.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Migration method selection depends on source DB version, endian, downtime, data size and license options.,Avoid dual-write divergence after cutover. X9M is retained as a synchronized/read-only or stopped rollback target according to the approved backout runbook.,No destructive retirement of X9M until business acceptance, backup restore test and rollback window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Published maximum performance is not a sizing promise. Maintain business-approved headroom and test representative workload.,For Base, external client/backup 100 Gb adapters are not listed; Standard/L/XL support optional 100 Gb. Validate customer network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is a decision architecture, not an implementation approval.,Before deployment, validate current Oracle support notes and OCI Console options because cloud service capabilities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9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18288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40" kern="0" dirty="0">
                <a:solidFill>
                  <a:srgbClr val="83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EXADATA MODERNIZATION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FINDING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Quarter → ExaCC X11M Base는 “위치·규모·계약”의 동시 전환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양쪽 모두 Oracle 관리형 Exadata지만, OCI 리전에서 고객 데이터센터로 이동하며 Base의 자원 envelope는 크게 작아진다.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11173968" cy="960120"/>
          </a:xfrm>
          <a:prstGeom prst="roundRect">
            <a:avLst>
              <a:gd name="adj" fmla="val 7619"/>
            </a:avLst>
          </a:prstGeom>
          <a:solidFill>
            <a:srgbClr val="23171A"/>
          </a:solidFill>
          <a:ln w="12700">
            <a:solidFill>
              <a:srgbClr val="6D342D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673352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4A2221"/>
          </a:solidFill>
          <a:ln w="12700">
            <a:solidFill>
              <a:srgbClr val="4A222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7335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결론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920240" y="1618488"/>
            <a:ext cx="6629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X9M Quarter 사용량을 측정하지 않고 Base System으로 고정하면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22208" y="1618488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성능·용량 회귀 위험이 크다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920240" y="1938528"/>
            <a:ext cx="8732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적합성 검증 후, 기준 초과 시 X11M Elastic Standard + HC/EF로 재산정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Smaller envelope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1520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Storage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노드 수만 동일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252→60 usable cores, XRMEM 4.5TB→없음, usable disk 190→106TB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288536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07992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Data location shift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07992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Region → 고객 DC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07992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책임은 유사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07992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Oracle은 양쪽 모두 infra 운영; VCN에서 고객 VLAN·방화벽 경계로 이동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8065008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84464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Version coexistence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84464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+ 26ai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284464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분리 VM Cluster 권장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84464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GI/DB Home lifecycle을 분리해 리스크와 patch coupling을 축소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2064" y="5029200"/>
            <a:ext cx="11173968" cy="1078992"/>
          </a:xfrm>
          <a:prstGeom prst="roundRect">
            <a:avLst>
              <a:gd name="adj" fmla="val 6780"/>
            </a:avLst>
          </a:prstGeom>
          <a:solidFill>
            <a:srgbClr val="0D1822"/>
          </a:solidFill>
          <a:ln w="12700">
            <a:solidFill>
              <a:srgbClr val="26415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9808" y="524865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순서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90195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0195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40487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AWR·용량·IOPS 측정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93192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7939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7939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8231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sizing gate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0936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5683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5683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15975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먼저 이전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68680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3427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3427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53719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26ai 신규/전환 분리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58952" y="57150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 조건: Base published limits 안에 실제 peak + 성장 + HA/backup headroom이 들어올 것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Exadata Cloud Infrastructure X9M DS v1.11 (2024); ExaCC X11M DS v1.5 (2026)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PUBLISHED SPECIFICATIONS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2+3 노드라도, ExaCC Base는 X9M Quarter보다 작은 envelope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X9M Cloud Infrastructure v1.11과 ExaCC X11M v1.5의 published metric을 같은 단위끼리 비교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2322576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51790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항목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2834640" y="1463040"/>
            <a:ext cx="3703320" cy="429768"/>
          </a:xfrm>
          <a:prstGeom prst="rect">
            <a:avLst/>
          </a:prstGeom>
          <a:solidFill>
            <a:srgbClr val="263449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 Quarter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537960" y="1463040"/>
            <a:ext cx="3703320" cy="429768"/>
          </a:xfrm>
          <a:prstGeom prst="rect">
            <a:avLst/>
          </a:prstGeom>
          <a:solidFill>
            <a:srgbClr val="173A3D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Base System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10241280" y="1463040"/>
            <a:ext cx="1261872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0" y="151790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512064" y="1892808"/>
            <a:ext cx="2322576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" y="1947672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 구성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834640" y="1892808"/>
            <a:ext cx="3703320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35224" y="1947672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HC/EF Storage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6537960" y="1892808"/>
            <a:ext cx="3703320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1947672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Base DB + 3 Base Storage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10241280" y="1892808"/>
            <a:ext cx="1261872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41864" y="1947672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2064" y="2432304"/>
            <a:ext cx="2322576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" y="24871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compute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834640" y="2432304"/>
            <a:ext cx="3703320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35224" y="2487168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 usable cores</a:t>
            </a:r>
            <a:endParaRPr lang="en-US" sz="880" dirty="0"/>
          </a:p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(OCPU 기반 서비스 세대)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6537960" y="2432304"/>
            <a:ext cx="3703320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38544" y="2487168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usable cores / 240 ECPUs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10241280" y="2432304"/>
            <a:ext cx="1261872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41864" y="2487168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축소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12064" y="2971800"/>
            <a:ext cx="2322576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" y="30266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memory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2834640" y="2971800"/>
            <a:ext cx="3703320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35224" y="3026664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2,780 GB available to VMs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6537960" y="2971800"/>
            <a:ext cx="3703320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38544" y="3026664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1,320 GB available to VMs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10241280" y="2971800"/>
            <a:ext cx="1261872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41864" y="302666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축소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12064" y="3511296"/>
            <a:ext cx="2322576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" y="3566160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저장소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2834640" y="3511296"/>
            <a:ext cx="3703320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35224" y="3566160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190 TB usable disk</a:t>
            </a:r>
            <a:endParaRPr lang="en-US" sz="880" dirty="0"/>
          </a:p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76.8 TB flash + 4.5 TB XRMEM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6537960" y="3511296"/>
            <a:ext cx="3703320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38544" y="3566160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 TB usable disk</a:t>
            </a:r>
            <a:endParaRPr lang="en-US" sz="880" dirty="0"/>
          </a:p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flash cache · no XRMEM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10241280" y="3511296"/>
            <a:ext cx="1261872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341864" y="3566160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축소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12064" y="4050792"/>
            <a:ext cx="2322576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2648" y="4105656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read IOPS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2834640" y="4050792"/>
            <a:ext cx="3703320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935224" y="4105656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SQL read IOPS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6537960" y="4050792"/>
            <a:ext cx="3703320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38544" y="4105656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597K SQL read IOPS</a:t>
            </a:r>
            <a:endParaRPr lang="en-US" sz="880" dirty="0"/>
          </a:p>
        </p:txBody>
      </p:sp>
      <p:sp>
        <p:nvSpPr>
          <p:cNvPr id="51" name="Shape 49"/>
          <p:cNvSpPr/>
          <p:nvPr/>
        </p:nvSpPr>
        <p:spPr>
          <a:xfrm>
            <a:off x="10241280" y="4050792"/>
            <a:ext cx="1261872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341864" y="4105656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축소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12064" y="4590288"/>
            <a:ext cx="2322576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2648" y="4645152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flash bandwidth</a:t>
            </a:r>
            <a:endParaRPr lang="en-US" sz="880" dirty="0"/>
          </a:p>
        </p:txBody>
      </p:sp>
      <p:sp>
        <p:nvSpPr>
          <p:cNvPr id="55" name="Shape 53"/>
          <p:cNvSpPr/>
          <p:nvPr/>
        </p:nvSpPr>
        <p:spPr>
          <a:xfrm>
            <a:off x="2834640" y="4590288"/>
            <a:ext cx="3703320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35224" y="4645152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135 GB/s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6537960" y="4590288"/>
            <a:ext cx="3703320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38544" y="4645152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37.5 GB/s</a:t>
            </a:r>
            <a:endParaRPr lang="en-US" sz="880" dirty="0"/>
          </a:p>
        </p:txBody>
      </p:sp>
      <p:sp>
        <p:nvSpPr>
          <p:cNvPr id="59" name="Shape 57"/>
          <p:cNvSpPr/>
          <p:nvPr/>
        </p:nvSpPr>
        <p:spPr>
          <a:xfrm>
            <a:off x="10241280" y="4590288"/>
            <a:ext cx="1261872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341864" y="4645152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축소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12064" y="5129784"/>
            <a:ext cx="2322576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2648" y="518464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/ System</a:t>
            </a:r>
            <a:endParaRPr lang="en-US" sz="880" dirty="0"/>
          </a:p>
        </p:txBody>
      </p:sp>
      <p:sp>
        <p:nvSpPr>
          <p:cNvPr id="63" name="Shape 61"/>
          <p:cNvSpPr/>
          <p:nvPr/>
        </p:nvSpPr>
        <p:spPr>
          <a:xfrm>
            <a:off x="2834640" y="5129784"/>
            <a:ext cx="3703320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35224" y="5184648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8</a:t>
            </a:r>
            <a:endParaRPr lang="en-US" sz="880" dirty="0"/>
          </a:p>
        </p:txBody>
      </p:sp>
      <p:sp>
        <p:nvSpPr>
          <p:cNvPr id="65" name="Shape 63"/>
          <p:cNvSpPr/>
          <p:nvPr/>
        </p:nvSpPr>
        <p:spPr>
          <a:xfrm>
            <a:off x="6537960" y="5129784"/>
            <a:ext cx="3703320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38544" y="5184648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12</a:t>
            </a:r>
            <a:endParaRPr lang="en-US" sz="880" dirty="0"/>
          </a:p>
        </p:txBody>
      </p:sp>
      <p:sp>
        <p:nvSpPr>
          <p:cNvPr id="67" name="Shape 65"/>
          <p:cNvSpPr/>
          <p:nvPr/>
        </p:nvSpPr>
        <p:spPr>
          <a:xfrm>
            <a:off x="10241280" y="5129784"/>
            <a:ext cx="1261872" cy="539496"/>
          </a:xfrm>
          <a:prstGeom prst="rect">
            <a:avLst/>
          </a:prstGeom>
          <a:solidFill>
            <a:srgbClr val="101925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341864" y="5184648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12064" y="5669280"/>
            <a:ext cx="2322576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2648" y="572414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배치·계약</a:t>
            </a:r>
            <a:endParaRPr lang="en-US" sz="880" dirty="0"/>
          </a:p>
        </p:txBody>
      </p:sp>
      <p:sp>
        <p:nvSpPr>
          <p:cNvPr id="71" name="Shape 69"/>
          <p:cNvSpPr/>
          <p:nvPr/>
        </p:nvSpPr>
        <p:spPr>
          <a:xfrm>
            <a:off x="2834640" y="5669280"/>
            <a:ext cx="3703320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935224" y="5724144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리전 · 최소 48시간</a:t>
            </a:r>
            <a:endParaRPr lang="en-US" sz="880" dirty="0"/>
          </a:p>
        </p:txBody>
      </p:sp>
      <p:sp>
        <p:nvSpPr>
          <p:cNvPr id="73" name="Shape 71"/>
          <p:cNvSpPr/>
          <p:nvPr/>
        </p:nvSpPr>
        <p:spPr>
          <a:xfrm>
            <a:off x="6537960" y="5669280"/>
            <a:ext cx="3703320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638544" y="5724144"/>
            <a:ext cx="3502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DC · infra 최소 4년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10241280" y="5669280"/>
            <a:ext cx="1261872" cy="539496"/>
          </a:xfrm>
          <a:prstGeom prst="rect">
            <a:avLst/>
          </a:prstGeom>
          <a:solidFill>
            <a:srgbClr val="0D1621"/>
          </a:solidFill>
          <a:ln w="6985">
            <a:solidFill>
              <a:srgbClr val="26344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341864" y="572414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12064" y="6263640"/>
            <a:ext cx="11173968" cy="164592"/>
          </a:xfrm>
          <a:prstGeom prst="roundRect">
            <a:avLst>
              <a:gd name="adj" fmla="val 11111"/>
            </a:avLst>
          </a:prstGeom>
          <a:solidFill>
            <a:srgbClr val="161E2A"/>
          </a:solidFill>
          <a:ln w="12700">
            <a:solidFill>
              <a:srgbClr val="161E2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621792" y="6254496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 ECPU/OCPU 과금 단위는 세대가 다르므로 usable core와 AWR/ASH를 중심으로 sizing. Published maximum은 보장 성능이 아님.</a:t>
            </a:r>
            <a:endParaRPr lang="en-US" sz="720" dirty="0"/>
          </a:p>
        </p:txBody>
      </p:sp>
      <p:sp>
        <p:nvSpPr>
          <p:cNvPr id="79" name="Shape 77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첨부: exadata-cloud-infrastructure-x9m.pdf (v1.11, 2024)  |  https://www.oracle.com/a/ocom/docs/engineered-systems/exadata/exadb-cc-x11m-ds.pdf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OPERATING MODEL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공통점은 Oracle infra 운영, 차이는 데이터 위치와 네트워크 경계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Infrastructure는 OCI 리전, ExaCC는 고객 데이터센터 안에서 동일한 Cloud Control Plane 경험을 제공한다.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5394960" cy="4425696"/>
          </a:xfrm>
          <a:prstGeom prst="roundRect">
            <a:avLst>
              <a:gd name="adj" fmla="val 1653"/>
            </a:avLst>
          </a:prstGeom>
          <a:solidFill>
            <a:srgbClr val="131A25"/>
          </a:solidFill>
          <a:ln w="12700">
            <a:solidFill>
              <a:srgbClr val="3A4557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81928" y="1463040"/>
            <a:ext cx="5394960" cy="4425696"/>
          </a:xfrm>
          <a:prstGeom prst="roundRect">
            <a:avLst>
              <a:gd name="adj" fmla="val 1653"/>
            </a:avLst>
          </a:prstGeom>
          <a:solidFill>
            <a:srgbClr val="0F1D25"/>
          </a:solidFill>
          <a:ln w="12700">
            <a:solidFill>
              <a:srgbClr val="28515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1700784"/>
            <a:ext cx="768096" cy="292608"/>
          </a:xfrm>
          <a:prstGeom prst="roundRect">
            <a:avLst>
              <a:gd name="adj" fmla="val 28125"/>
            </a:avLst>
          </a:prstGeom>
          <a:solidFill>
            <a:srgbClr val="303A49"/>
          </a:solidFill>
          <a:ln w="12700">
            <a:solidFill>
              <a:srgbClr val="303A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700784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CURRENT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Infrastructure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519672" y="1700784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19672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Base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68096" y="264261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 위치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93392" y="2642616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OCI Region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8096" y="2980944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Infrastructure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993392" y="3182112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Operations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8096" y="3520440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7216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Database/OS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993392" y="3721608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DBA + VM root access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68096" y="4059936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42611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경계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93392" y="426110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VCN · 50 GbE 연결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8096" y="4599432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48006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계약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480060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pay-per-use · 최소 48시간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37960" y="264261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 위치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763256" y="2642616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Data Center · 방화벽 내부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2980944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Infrastructure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763256" y="3182112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Operations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37960" y="3520440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37216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Database/OS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763256" y="3721608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DBA + VM root access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537960" y="4059936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42611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경계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763256" y="426110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VLAN · Base는 10/25 또는 10 Gb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537960" y="4599432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48006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계약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763256" y="480060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 subscription · 최소 4년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12064" y="6108192"/>
            <a:ext cx="11173968" cy="283464"/>
          </a:xfrm>
          <a:prstGeom prst="roundRect">
            <a:avLst>
              <a:gd name="adj" fmla="val 12903"/>
            </a:avLst>
          </a:prstGeom>
          <a:solidFill>
            <a:srgbClr val="201B17"/>
          </a:solidFill>
          <a:ln w="12700">
            <a:solidFill>
              <a:srgbClr val="514226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04088" y="6144768"/>
            <a:ext cx="10789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책임 경계: Oracle은 물리 서버·RoCE·KVM·Exadata System Software, 고객은 VM/OS·Grid/DB·데이터·접근권한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pp.6–10; ExaCC X11M DS v1.5 pp.1, 6–10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ARCHITECTURE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인프라에 19c와 26ai를 “분리된 VM Cluster”로 병행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26ai Database에는 GI 26ai가 필요하다. 버전별 GI·DB Home lifecycle을 분리해 상호 영향과 patch coupling을 줄인다.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90472"/>
            <a:ext cx="1901952" cy="1152144"/>
          </a:xfrm>
          <a:prstGeom prst="roundRect">
            <a:avLst>
              <a:gd name="adj" fmla="val 6349"/>
            </a:avLst>
          </a:prstGeom>
          <a:solidFill>
            <a:srgbClr val="121A2A"/>
          </a:solidFill>
          <a:ln w="12700">
            <a:solidFill>
              <a:srgbClr val="2D4362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82496"/>
            <a:ext cx="1426464" cy="292608"/>
          </a:xfrm>
          <a:prstGeom prst="roundRect">
            <a:avLst>
              <a:gd name="adj" fmla="val 28125"/>
            </a:avLst>
          </a:prstGeom>
          <a:solidFill>
            <a:srgbClr val="1B2B46"/>
          </a:solidFill>
          <a:ln w="12700">
            <a:solidFill>
              <a:srgbClr val="1B2B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682496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CONTROL PLANE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13232" y="2029968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Console · REST API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76656" y="2286000"/>
            <a:ext cx="1517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provision · patch · backup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798064" y="1389888"/>
            <a:ext cx="8887968" cy="4736592"/>
          </a:xfrm>
          <a:prstGeom prst="roundRect">
            <a:avLst>
              <a:gd name="adj" fmla="val 1544"/>
            </a:avLst>
          </a:prstGeom>
          <a:solidFill>
            <a:srgbClr val="0C131D">
              <a:alpha val="82000"/>
            </a:srgbClr>
          </a:solidFill>
          <a:ln w="16510">
            <a:solidFill>
              <a:srgbClr val="3B4B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17520" y="1581912"/>
            <a:ext cx="1600200" cy="292608"/>
          </a:xfrm>
          <a:prstGeom prst="roundRect">
            <a:avLst>
              <a:gd name="adj" fmla="val 28125"/>
            </a:avLst>
          </a:prstGeom>
          <a:solidFill>
            <a:srgbClr val="202B3A"/>
          </a:solidFill>
          <a:ln w="12700">
            <a:solidFill>
              <a:srgbClr val="202B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15819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CUSTOMER DATA CENTER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14016" y="2029968"/>
            <a:ext cx="1161288" cy="0"/>
          </a:xfrm>
          <a:prstGeom prst="line">
            <a:avLst/>
          </a:prstGeom>
          <a:noFill/>
          <a:ln w="25400">
            <a:solidFill>
              <a:srgbClr val="61A8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340864" y="1783080"/>
            <a:ext cx="859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secure tunnel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36976" y="1965960"/>
            <a:ext cx="1344168" cy="1005840"/>
          </a:xfrm>
          <a:prstGeom prst="roundRect">
            <a:avLst>
              <a:gd name="adj" fmla="val 5455"/>
            </a:avLst>
          </a:prstGeom>
          <a:solidFill>
            <a:srgbClr val="142133"/>
          </a:solidFill>
          <a:ln w="12700">
            <a:solidFill>
              <a:srgbClr val="2D4362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74136" y="21945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Control Plane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Servers ×2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91840" y="2761488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availability와 분리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892040" y="1883664"/>
            <a:ext cx="2999232" cy="3840480"/>
          </a:xfrm>
          <a:prstGeom prst="roundRect">
            <a:avLst>
              <a:gd name="adj" fmla="val 1829"/>
            </a:avLst>
          </a:prstGeom>
          <a:solidFill>
            <a:srgbClr val="131C28"/>
          </a:solidFill>
          <a:ln w="12700">
            <a:solidFill>
              <a:srgbClr val="34465C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02936" y="2084832"/>
            <a:ext cx="2377440" cy="292608"/>
          </a:xfrm>
          <a:prstGeom prst="roundRect">
            <a:avLst>
              <a:gd name="adj" fmla="val 28125"/>
            </a:avLst>
          </a:prstGeom>
          <a:solidFill>
            <a:srgbClr val="2A3545"/>
          </a:solidFill>
          <a:ln w="12700">
            <a:solidFill>
              <a:srgbClr val="2A35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02936" y="2084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X11M BASE SYSTEM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230368" y="2615184"/>
            <a:ext cx="100584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358384" y="2761488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2788920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58384" y="2926080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80176" y="295351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58384" y="3090672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80176" y="3118104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320954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DB-1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6537960" y="2615184"/>
            <a:ext cx="100584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665976" y="2761488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87768" y="2788920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65976" y="2926080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7768" y="295351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65976" y="3090672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87768" y="3118104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320954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DB-2</a:t>
            </a:r>
            <a:endParaRPr lang="en-US" sz="860" dirty="0"/>
          </a:p>
        </p:txBody>
      </p:sp>
      <p:sp>
        <p:nvSpPr>
          <p:cNvPr id="37" name="Text 35"/>
          <p:cNvSpPr/>
          <p:nvPr/>
        </p:nvSpPr>
        <p:spPr>
          <a:xfrm>
            <a:off x="5184648" y="3529584"/>
            <a:ext cx="2395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usable cores · 240 ECPUs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239512" y="3813048"/>
            <a:ext cx="2304288" cy="0"/>
          </a:xfrm>
          <a:prstGeom prst="line">
            <a:avLst/>
          </a:prstGeom>
          <a:noFill/>
          <a:ln w="31750">
            <a:solidFill>
              <a:srgbClr val="45C7D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85816" y="3867912"/>
            <a:ext cx="1993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45C7D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× 100 Gb/s RoCE</a:t>
            </a:r>
            <a:endParaRPr lang="en-US" sz="730" dirty="0"/>
          </a:p>
        </p:txBody>
      </p:sp>
      <p:sp>
        <p:nvSpPr>
          <p:cNvPr id="40" name="Shape 38"/>
          <p:cNvSpPr/>
          <p:nvPr/>
        </p:nvSpPr>
        <p:spPr>
          <a:xfrm>
            <a:off x="5138928" y="4270248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138928" y="438912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STG-1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5138928" y="4645152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5989320" y="4270248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989320" y="438912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STG-2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989320" y="4645152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839712" y="4270248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839712" y="4389120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STG-3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6839712" y="4645152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102352" y="5175504"/>
            <a:ext cx="25968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 TB usable disk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084064" y="5431536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flash · no XRMEM</a:t>
            </a:r>
            <a:endParaRPr lang="en-US" sz="760" dirty="0"/>
          </a:p>
        </p:txBody>
      </p:sp>
      <p:sp>
        <p:nvSpPr>
          <p:cNvPr id="51" name="Shape 49"/>
          <p:cNvSpPr/>
          <p:nvPr/>
        </p:nvSpPr>
        <p:spPr>
          <a:xfrm>
            <a:off x="8193024" y="1901952"/>
            <a:ext cx="3154680" cy="1536192"/>
          </a:xfrm>
          <a:prstGeom prst="roundRect">
            <a:avLst>
              <a:gd name="adj" fmla="val 3571"/>
            </a:avLst>
          </a:prstGeom>
          <a:solidFill>
            <a:srgbClr val="10222A"/>
          </a:solidFill>
          <a:ln w="12700">
            <a:solidFill>
              <a:srgbClr val="27606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412480" y="2103120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173D42"/>
          </a:solidFill>
          <a:ln w="12700">
            <a:solidFill>
              <a:srgbClr val="173D4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12480" y="210312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A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412480" y="24597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Database 19c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412480" y="276148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19c · DB Home 19c</a:t>
            </a:r>
            <a:endParaRPr lang="en-US" sz="880" dirty="0"/>
          </a:p>
        </p:txBody>
      </p:sp>
      <p:sp>
        <p:nvSpPr>
          <p:cNvPr id="56" name="Text 54"/>
          <p:cNvSpPr/>
          <p:nvPr/>
        </p:nvSpPr>
        <p:spPr>
          <a:xfrm>
            <a:off x="8412480" y="3035808"/>
            <a:ext cx="2505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production CDB/PDB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8193024" y="3694176"/>
            <a:ext cx="3154680" cy="1536192"/>
          </a:xfrm>
          <a:prstGeom prst="roundRect">
            <a:avLst>
              <a:gd name="adj" fmla="val 3571"/>
            </a:avLst>
          </a:prstGeom>
          <a:solidFill>
            <a:srgbClr val="1A1730"/>
          </a:solidFill>
          <a:ln w="12700">
            <a:solidFill>
              <a:srgbClr val="4C3977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8412480" y="3895344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332452"/>
          </a:solidFill>
          <a:ln w="12700">
            <a:solidFill>
              <a:srgbClr val="33245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12480" y="3895344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B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12480" y="42519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AI Database 26ai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8412480" y="4553712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26ai · DB Home 26ai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8412480" y="4828032"/>
            <a:ext cx="2505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Vector Search · 신규/전환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891272" y="2907792"/>
            <a:ext cx="301752" cy="0"/>
          </a:xfrm>
          <a:prstGeom prst="line">
            <a:avLst/>
          </a:prstGeom>
          <a:noFill/>
          <a:ln w="20320">
            <a:solidFill>
              <a:srgbClr val="2DD4BF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7891272" y="4498848"/>
            <a:ext cx="301752" cy="0"/>
          </a:xfrm>
          <a:prstGeom prst="line">
            <a:avLst/>
          </a:prstGeom>
          <a:noFill/>
          <a:ln w="20320">
            <a:solidFill>
              <a:srgbClr val="B18CFF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8412480" y="5449824"/>
            <a:ext cx="2688336" cy="292608"/>
          </a:xfrm>
          <a:prstGeom prst="roundRect">
            <a:avLst>
              <a:gd name="adj" fmla="val 28125"/>
            </a:avLst>
          </a:prstGeom>
          <a:solidFill>
            <a:srgbClr val="3A301F"/>
          </a:solidFill>
          <a:ln w="12700">
            <a:solidFill>
              <a:srgbClr val="3A301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12480" y="5449824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12 VM Clusters / Base System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3246120" y="5815584"/>
            <a:ext cx="4462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 VLAN · Backup VLAN · DNS/NTP · IAM</a:t>
            </a:r>
            <a:endParaRPr lang="en-US" sz="780" dirty="0"/>
          </a:p>
        </p:txBody>
      </p:sp>
      <p:sp>
        <p:nvSpPr>
          <p:cNvPr id="68" name="Shape 66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ExaCC X11M DS v1.5 Table 1; Oracle Manage VM Clusters documentation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TRANSITION BLUEPRINT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X9M의 19c를 ExaCC로 이전하고, 26ai는 별도 lifecycle로 도입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Oracle은 ExaCC 이전에 Zero Downtime Migration(ZDM)을 best practice로 권장한다.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536192"/>
            <a:ext cx="1874520" cy="3493008"/>
          </a:xfrm>
          <a:prstGeom prst="roundRect">
            <a:avLst>
              <a:gd name="adj" fmla="val 3415"/>
            </a:avLst>
          </a:prstGeom>
          <a:solidFill>
            <a:srgbClr val="171D28"/>
          </a:solidFill>
          <a:ln w="12700">
            <a:solidFill>
              <a:srgbClr val="3E4859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764792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333C49"/>
          </a:solidFill>
          <a:ln w="12700">
            <a:solidFill>
              <a:srgbClr val="333C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7647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215798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X9M Quarter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23544" y="2633472"/>
            <a:ext cx="105156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51560" y="2779776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19072" y="2807208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2944368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19072" y="2971800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51560" y="3108960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19072" y="3136392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" y="32278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RAC 19c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758952" y="3685032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Storage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58952" y="408736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rollback standby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58952" y="4334256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cutover 후 write freeze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9802368" y="1536192"/>
            <a:ext cx="1874520" cy="3493008"/>
          </a:xfrm>
          <a:prstGeom prst="roundRect">
            <a:avLst>
              <a:gd name="adj" fmla="val 3415"/>
            </a:avLst>
          </a:prstGeom>
          <a:solidFill>
            <a:srgbClr val="10222A"/>
          </a:solidFill>
          <a:ln w="12700">
            <a:solidFill>
              <a:srgbClr val="2B5F68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058400" y="1764792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0" y="17647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021824" y="2157984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0213848" y="2633472"/>
            <a:ext cx="105156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341864" y="2779776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09376" y="2807208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41864" y="2944368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009376" y="2971800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41864" y="3108960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009376" y="313639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13848" y="32278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10003536" y="3685032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003536" y="4078224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26ai 별도 Cluster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003536" y="432511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신규/업그레이드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377440" y="2962656"/>
            <a:ext cx="7424928" cy="0"/>
          </a:xfrm>
          <a:prstGeom prst="line">
            <a:avLst/>
          </a:prstGeom>
          <a:noFill/>
          <a:ln w="38100">
            <a:solidFill>
              <a:srgbClr val="3451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05456" y="2624328"/>
            <a:ext cx="658368" cy="658368"/>
          </a:xfrm>
          <a:prstGeom prst="ellipse">
            <a:avLst/>
          </a:prstGeom>
          <a:solidFill>
            <a:srgbClr val="1F3447"/>
          </a:solidFill>
          <a:ln w="15240">
            <a:solidFill>
              <a:srgbClr val="61A8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05456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86000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157984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AWR · 용량</a:t>
            </a:r>
            <a:endParaRPr lang="en-US" sz="74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IOPS · 성장</a:t>
            </a:r>
            <a:endParaRPr lang="en-US" sz="740" dirty="0"/>
          </a:p>
        </p:txBody>
      </p:sp>
      <p:sp>
        <p:nvSpPr>
          <p:cNvPr id="40" name="Shape 38"/>
          <p:cNvSpPr/>
          <p:nvPr/>
        </p:nvSpPr>
        <p:spPr>
          <a:xfrm>
            <a:off x="3685032" y="2624328"/>
            <a:ext cx="658368" cy="658368"/>
          </a:xfrm>
          <a:prstGeom prst="ellipse">
            <a:avLst/>
          </a:prstGeom>
          <a:solidFill>
            <a:srgbClr val="1F3447"/>
          </a:solidFill>
          <a:ln w="15240">
            <a:solidFill>
              <a:srgbClr val="61A8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85032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65576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Foundation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337560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IAM · VLAN · 방화벽</a:t>
            </a:r>
            <a:endParaRPr lang="en-US" sz="74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DNS/NTP · backup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4864608" y="2624328"/>
            <a:ext cx="658368" cy="658368"/>
          </a:xfrm>
          <a:prstGeom prst="ellipse">
            <a:avLst/>
          </a:prstGeom>
          <a:solidFill>
            <a:srgbClr val="1F3447"/>
          </a:solidFill>
          <a:ln w="15240">
            <a:solidFill>
              <a:srgbClr val="61A8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64608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645152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Provision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517136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sizing 통과</a:t>
            </a:r>
            <a:endParaRPr lang="en-US" sz="74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Cluster 생성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6044184" y="2624328"/>
            <a:ext cx="658368" cy="658368"/>
          </a:xfrm>
          <a:prstGeom prst="ellipse">
            <a:avLst/>
          </a:prstGeom>
          <a:solidFill>
            <a:srgbClr val="153B3A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44184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824728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Replicate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696712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ZDM · Data Guard</a:t>
            </a:r>
            <a:endParaRPr lang="en-US" sz="74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RMAN/GoldenGate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7223760" y="2624328"/>
            <a:ext cx="658368" cy="658368"/>
          </a:xfrm>
          <a:prstGeom prst="ellipse">
            <a:avLst/>
          </a:prstGeom>
          <a:solidFill>
            <a:srgbClr val="153B3A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223760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04304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Validate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876288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· HA/DR</a:t>
            </a:r>
            <a:endParaRPr lang="en-US" sz="74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backup · 보안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8403336" y="2624328"/>
            <a:ext cx="658368" cy="658368"/>
          </a:xfrm>
          <a:prstGeom prst="ellipse">
            <a:avLst/>
          </a:prstGeom>
          <a:solidFill>
            <a:srgbClr val="153B3A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403336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183880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Cutover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055864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sync</a:t>
            </a:r>
            <a:endParaRPr lang="en-US" sz="74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전환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2505456" y="4754880"/>
            <a:ext cx="6958584" cy="795528"/>
          </a:xfrm>
          <a:prstGeom prst="roundRect">
            <a:avLst>
              <a:gd name="adj" fmla="val 6897"/>
            </a:avLst>
          </a:prstGeom>
          <a:solidFill>
            <a:srgbClr val="211C17"/>
          </a:solidFill>
          <a:ln w="12700">
            <a:solidFill>
              <a:srgbClr val="5A4728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2715768" y="495604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ROLLBACK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3511296" y="4892040"/>
            <a:ext cx="5632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X9M을 acceptance 완료까지 synchronized standby로 유지 · cutover 후 write freeze · backout 승인 시 route 복구</a:t>
            </a:r>
            <a:endParaRPr lang="en-US" sz="870" dirty="0"/>
          </a:p>
        </p:txBody>
      </p:sp>
      <p:sp>
        <p:nvSpPr>
          <p:cNvPr id="63" name="Shape 61"/>
          <p:cNvSpPr/>
          <p:nvPr/>
        </p:nvSpPr>
        <p:spPr>
          <a:xfrm>
            <a:off x="512064" y="5751576"/>
            <a:ext cx="11173968" cy="429768"/>
          </a:xfrm>
          <a:prstGeom prst="roundRect">
            <a:avLst>
              <a:gd name="adj" fmla="val 8511"/>
            </a:avLst>
          </a:prstGeom>
          <a:solidFill>
            <a:srgbClr val="131B26"/>
          </a:solidFill>
          <a:ln w="12700">
            <a:solidFill>
              <a:srgbClr val="283548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749808" y="58430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26ai 도입은 19c 이전 성공과 분리: 새 VM Cluster → 새 DB Home → app/데이터 compatibility test → 별도 승인 후 단계 전환</a:t>
            </a:r>
            <a:endParaRPr lang="en-US" sz="880" dirty="0"/>
          </a:p>
        </p:txBody>
      </p:sp>
      <p:sp>
        <p:nvSpPr>
          <p:cNvPr id="65" name="Shape 63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ExaCC X11M DS v1.5, “Migration To Exadata Cloud@Customer” · Oracle recommends ZDM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GATE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System은 “조건부 GO” — 현행 사용량이 published envelope 안에 들어와야 한다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Base가 탈락하면 X11M Standard DB + HC/EF Storage elastic shape가 X9M Quarter에 더 가까운 대안이다.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10242A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0664" y="1746504"/>
            <a:ext cx="1609344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0664" y="1746504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· GO 후보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0664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작고 안정적인 footprint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58952" y="2779776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Peak SQL read IOPS &lt; 597K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58952" y="3264408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Flash scan 요구 &lt; 37.5 GB/s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58952" y="3749040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size ≤ 85 TB (local backup 없음)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" y="4233672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size ≤ 42 TB (local backup 있음)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58952" y="4718304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No-XRMEM latency를 실측으로 수용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334256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121F31"/>
          </a:solidFill>
          <a:ln w="12700">
            <a:solidFill>
              <a:srgbClr val="61A8F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62856" y="1746504"/>
            <a:ext cx="1609344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62856" y="1746504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 STD · 대안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62856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Quarter에 가까운 envelope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81144" y="2779776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380 usable cores / 1,520 ECPUs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81144" y="3264408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240 TB usable HC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81144" y="3749040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81.6 TB flash + 3.75 TB XRMEM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81144" y="4233672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SQL read IOPS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81144" y="4718304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300 GB/s SQL flash bandwidth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156448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28191C"/>
          </a:solidFill>
          <a:ln w="12700">
            <a:solidFill>
              <a:srgbClr val="FF6B5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385048" y="1746504"/>
            <a:ext cx="1609344" cy="292608"/>
          </a:xfrm>
          <a:prstGeom prst="roundRect">
            <a:avLst>
              <a:gd name="adj" fmla="val 28125"/>
            </a:avLst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85048" y="1746504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NO-GO · 재설계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385048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확정 전 해소할 blocker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403336" y="2779776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22792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ASM allocated가 106 TB 근접/초과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403336" y="3264408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22792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Peak/배치 window가 Base 한계 초과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403336" y="3749040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22792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backup/DR 보존량 미산정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403336" y="4233672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22792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app의 26ai compatibility 미검증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403336" y="4718304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22792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4년 계약·운영 책임 승인 없음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12064" y="5943600"/>
            <a:ext cx="11173968" cy="265176"/>
          </a:xfrm>
          <a:prstGeom prst="roundRect">
            <a:avLst>
              <a:gd name="adj" fmla="val 10345"/>
            </a:avLst>
          </a:prstGeom>
          <a:solidFill>
            <a:srgbClr val="211B17"/>
          </a:solidFill>
          <a:ln w="12700">
            <a:solidFill>
              <a:srgbClr val="5B4826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67512" y="5980176"/>
            <a:ext cx="10863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gate: AWR/ASH + Exachk + ASM/backup capacity + network latency + HA/DR rehearsal + OCI shape availability + MOS support matrix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ExaCC X11M DS v1.5 Table 1 · numbers are published maxima, not workload guarantees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&amp; GUARDRAILS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Datasheet 반영 범위와 해석 경계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첨부는 Cloud Infrastructure v1.11, X11M 첨부는 Database Machine v1.2이며 ExaCC 고유 수치는 공식 ExaCC v1.5로 보완했다.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99616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73352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67335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280160" y="16093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· Exadata Cloud Infrastructure X9M DS v1.11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280160" y="1865376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Quarter: 2+3, 252 usable cores, 2,780GB VM memory, 190TB usable disk, 4.5TB XRMEM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6327648" y="17099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첨부: exadata-cloud-infrastructure-x9m.pdf (v1.11, 2024)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512064" y="2487168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3232" y="2660904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66090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80160" y="259689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· Exadata Database Machine X11M DS v1.2 (한국어)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1280160" y="2852928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X11M 하드웨어: DDR5, PCIe 5.0, XRMEM, AI Smart Scan, Exascale 맥락</a:t>
            </a:r>
            <a:endParaRPr lang="en-US" sz="760" dirty="0"/>
          </a:p>
        </p:txBody>
      </p:sp>
      <p:sp>
        <p:nvSpPr>
          <p:cNvPr id="16" name="Text 14"/>
          <p:cNvSpPr/>
          <p:nvPr/>
        </p:nvSpPr>
        <p:spPr>
          <a:xfrm>
            <a:off x="6327648" y="26974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첨부: Exadata-X11M-DS-FINAL_ko_KR.pdf (DB Machine v1.2, 2025)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512064" y="3474720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3232" y="3648456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64845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280160" y="35844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· ExaCC X11M DS v1.5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1280160" y="3840480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specs, 책임 모델, 4년 subscription, ZDM 권고, 26ai 관련 제품</a:t>
            </a:r>
            <a:endParaRPr lang="en-US" sz="760" dirty="0"/>
          </a:p>
        </p:txBody>
      </p:sp>
      <p:sp>
        <p:nvSpPr>
          <p:cNvPr id="22" name="Text 20"/>
          <p:cNvSpPr/>
          <p:nvPr/>
        </p:nvSpPr>
        <p:spPr>
          <a:xfrm>
            <a:off x="6327648" y="368503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https://www.oracle.com/a/ocom/docs/engineered-systems/exadata/exadb-cc-x11m-ds.pdf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12064" y="4462272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3232" y="4636008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63600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280160" y="45720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· Manage VM Clusters documentation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1280160" y="4828032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C4CD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GI는 cluster별 선택; 26ai DB에는 GI 26ai 필요; major별 DB Home 분리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6327648" y="467258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https://docs.oracle.com/en/engineered-systems/exadata-cloud-at-customer/ecccm/ecc-manage-vm-clusters.html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512064" y="5559552"/>
            <a:ext cx="11173968" cy="621792"/>
          </a:xfrm>
          <a:prstGeom prst="roundRect">
            <a:avLst>
              <a:gd name="adj" fmla="val 7353"/>
            </a:avLst>
          </a:prstGeom>
          <a:solidFill>
            <a:srgbClr val="241B17"/>
          </a:solidFill>
          <a:ln w="12700">
            <a:solidFill>
              <a:srgbClr val="5B3C2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49808" y="5751576"/>
            <a:ext cx="1060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 재확인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874520" y="5678424"/>
            <a:ext cx="9464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OCI tenancy/region의 shape 제공 여부 · MOS 742060.1 지원 상태 · 19c/26ai RU 조합 · GI/Guest image · 라이선스 · ZDM 지원 경로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82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Prepared from the two user attachments plus Oracle ExaCC X11M v1.5 and current administration docs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Nexus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Exadata X9M Quarter Rack → ExaCC X11M Base System</dc:title>
  <dc:subject>Exadata X9M Quarter Rack to Exadata Cloud@Customer X11M Base System transition</dc:subject>
  <dc:creator>Astra · Nexus IT</dc:creator>
  <cp:lastModifiedBy>Astra · Nexus IT</cp:lastModifiedBy>
  <cp:revision>1</cp:revision>
  <dcterms:created xsi:type="dcterms:W3CDTF">2026-07-23T15:21:10Z</dcterms:created>
  <dcterms:modified xsi:type="dcterms:W3CDTF">2026-07-23T15:21:10Z</dcterms:modified>
</cp:coreProperties>
</file>