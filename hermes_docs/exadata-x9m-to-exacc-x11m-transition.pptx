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Base System을 단순한 X11M 세대 업그레이드로 설명하지 않는다.,Published specifications의 측정 방식이 일부 다르므로 실제 sizing은 AWR/ASH/Exachk/Capacity Planning으로 재검증한다.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 190 TB and ExaCC Base 106 TB are published usable capacity after ASM high redundancy and drive-failure recovery.,Customer ASM allocated/used, backup retention and growth must be re-sized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X9M-2 Eighth Rack values are from the on-premises Exadata Database Machine X9M-2 data sheet: 2 database servers, 3 Eighth Rack HC storage servers, 64 physical database cores, and 96.2 TB usable capacity at ASM high redundancy.,ExaC@C X11M does not publish a Quarter Rack shape name. The Elastic comparison uses 2 Standard database servers and 3 High Capacity storage servers with XRMEM.,Physical cores, usable cores, OCPUs, and ECPUs are different service and licensing measures. Do not treat them as direct equivalents; final sizing requires AWR/ASH and workload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Oracle Cloud Operations는 physical DB/storage servers, PDU, RoCE, management switch, control plane servers, KVM, Exadata System Software/firmware를 관리한다.,고객은 DB VM root와 DBA 권한을 가지며 OS/DB update 일정을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VM Clusters are an architecture recommendation to isolate Grid Infrastructure and database lifecycle.,Oracle documentation: choose GI 19c or 26ai at VM Cluster creation; 26ai DB requires GI 26ai. Minimum: guest Exadata System Software 23.1.8 and infrastructure 23.1.x.,Final availability must be validated in the target tenancy/region and MOS 742060.1.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assumes ZDM Physical Online with Data Guard. Confirm source configuration and ZDM support before implementation.,Approved runbook must define write-stop authority, Data Guard role, reverse replication or restore path, RPO/RTO, DNS TTL, connection-pool draining, validation queries and rehearsal evidence.,No X9M retirement until acceptance, backup restore test and failback window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convert the published maxima into a GO threshold. A business-approved design limit must be lower and supported by representative workload test evidence.,The Standard column is one HC-with-XRMEM example, not an assertion that HC and EF have the same capacity.,For Base, external client/backup 100 Gb adapters are not listed; validate customer network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첨부: exadata-cloud-infrastructure-x9m.pdf (v1.11, 2024),[2] 첨부: Exadata-X11M-DS-FINAL_ko_KR.pdf (DB Machine v1.2, 2025),[3] https://www.oracle.com/a/ocom/docs/engineered-systems/exadata/exadb-cc-x11m-ds.pdf,[4] https://docs.oracle.com/en/engineered-systems/exadata-cloud-at-customer/ecccm/ecc-manage-vm-clusters.html,Before deployment, validate current Oracle support notes and OCI Console options because cloud service capabilities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1828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40" kern="0" dirty="0">
                <a:solidFill>
                  <a:srgbClr val="83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 MODERNIZATION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FINDING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 → ExaCC X11M Base는 “위치·규모·계약”의 동시 전환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양쪽 모두 Oracle 관리형 Exadata지만, OCI 리전에서 고객 데이터센터로 이동하며 Base의 자원 envelope는 크게 작아진다.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1173968" cy="960120"/>
          </a:xfrm>
          <a:prstGeom prst="roundRect">
            <a:avLst>
              <a:gd name="adj" fmla="val 7619"/>
            </a:avLst>
          </a:prstGeom>
          <a:solidFill>
            <a:srgbClr val="23171A"/>
          </a:solidFill>
          <a:ln w="12700">
            <a:solidFill>
              <a:srgbClr val="6D342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73352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4A2221"/>
          </a:solidFill>
          <a:ln w="12700">
            <a:solidFill>
              <a:srgbClr val="4A22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7335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결론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920240" y="1618488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X9M Quarter 사용량을 측정하지 않고 Base System으로 고정하면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22208" y="161848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성능·용량 회귀 위험이 크다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1938528"/>
            <a:ext cx="8732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적합성 검증 후, 기준 초과 시 X11M Elastic Standard + HC/EF로 재산정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Smaller envelope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동일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252→60 usable cores, XRMEM 4.5TB→없음, usable disk 190→106TB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288536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Data location shift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07992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Region → 고객 DC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책임은 유사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07992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양쪽 모두 infra 운영; VCN에서 고객 VLAN·방화벽 경계로 이동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065008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84464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Version coexistence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84464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+ 26ai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84464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VM Cluster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84464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GI/DB Home lifecycle을 분리해 리스크와 patch coupling을 축소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5029200"/>
            <a:ext cx="11173968" cy="1078992"/>
          </a:xfrm>
          <a:prstGeom prst="roundRect">
            <a:avLst>
              <a:gd name="adj" fmla="val 6780"/>
            </a:avLst>
          </a:prstGeom>
          <a:solidFill>
            <a:srgbClr val="0D1822"/>
          </a:solidFill>
          <a:ln w="12700">
            <a:solidFill>
              <a:srgbClr val="26415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9808" y="5248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순서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0195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0487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AWR·용량·IOPS 측정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939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231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gate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5683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5975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먼저 이전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68680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3427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3427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53719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신규/전환 분리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8952" y="57150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 조건: Base published limits 안에 실제 peak + 성장 + HA/backup headroom이 들어올 것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· ExaCC X11M DS v1.5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2+3으로 동일 — ExaCC Base의 자원 envelope는 더 작다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기준 비교 · 코어 과금 단위는 세대가 달라 usable core와 실측 workload 중심으로 판단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 System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HC/EF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/ 240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76%↓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53%↓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cache · no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44%↓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IOPS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SQL read IOPS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89%↓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72%↓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System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배치·계약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리전 · 최소 48시간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DC · infra 최소 4년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EF는 저장 비교에서 제외 · OCPU/ECPU는 직접 등가 비교 불가 · Published maximum은 workload 보장치가 아님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Eighth Rack vs ExaC@C X11M Base·Elastic 사양 비교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최소 구성과 Cloud@Customer의 Base 및 Quarter 상당 2+3 Elastic 구성을 동일 지표로 비교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984248" cy="484632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10" dirty="0"/>
          </a:p>
        </p:txBody>
      </p:sp>
      <p:sp>
        <p:nvSpPr>
          <p:cNvPr id="7" name="Shape 5"/>
          <p:cNvSpPr/>
          <p:nvPr/>
        </p:nvSpPr>
        <p:spPr>
          <a:xfrm>
            <a:off x="2496312" y="1463040"/>
            <a:ext cx="3008376" cy="484632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7752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X9M-2 Eighth Rack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On-premises</a:t>
            </a:r>
            <a:endParaRPr lang="en-US" sz="910" dirty="0"/>
          </a:p>
        </p:txBody>
      </p:sp>
      <p:sp>
        <p:nvSpPr>
          <p:cNvPr id="9" name="Shape 7"/>
          <p:cNvSpPr/>
          <p:nvPr/>
        </p:nvSpPr>
        <p:spPr>
          <a:xfrm>
            <a:off x="5504688" y="1463040"/>
            <a:ext cx="3008376" cy="484632"/>
          </a:xfrm>
          <a:prstGeom prst="rect">
            <a:avLst/>
          </a:prstGeom>
          <a:solidFill>
            <a:srgbClr val="203247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96128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ExaC@C X11M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</a:t>
            </a:r>
            <a:endParaRPr lang="en-US" sz="910" dirty="0"/>
          </a:p>
        </p:txBody>
      </p:sp>
      <p:sp>
        <p:nvSpPr>
          <p:cNvPr id="11" name="Shape 9"/>
          <p:cNvSpPr/>
          <p:nvPr/>
        </p:nvSpPr>
        <p:spPr>
          <a:xfrm>
            <a:off x="8513064" y="1463040"/>
            <a:ext cx="3008376" cy="484632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04504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ExaC@C X11M Elastic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</a:t>
            </a:r>
            <a:endParaRPr lang="en-US" sz="910" dirty="0"/>
          </a:p>
        </p:txBody>
      </p:sp>
      <p:sp>
        <p:nvSpPr>
          <p:cNvPr id="13" name="Shape 11"/>
          <p:cNvSpPr/>
          <p:nvPr/>
        </p:nvSpPr>
        <p:spPr>
          <a:xfrm>
            <a:off x="512064" y="19476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9796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96312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87752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Eighth HC</a:t>
            </a:r>
            <a:endParaRPr lang="en-US" sz="890" dirty="0"/>
          </a:p>
        </p:txBody>
      </p:sp>
      <p:sp>
        <p:nvSpPr>
          <p:cNvPr id="17" name="Shape 15"/>
          <p:cNvSpPr/>
          <p:nvPr/>
        </p:nvSpPr>
        <p:spPr>
          <a:xfrm>
            <a:off x="5504688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890" dirty="0"/>
          </a:p>
        </p:txBody>
      </p:sp>
      <p:sp>
        <p:nvSpPr>
          <p:cNvPr id="19" name="Shape 17"/>
          <p:cNvSpPr/>
          <p:nvPr/>
        </p:nvSpPr>
        <p:spPr>
          <a:xfrm>
            <a:off x="8513064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04504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 w/XRMEM</a:t>
            </a:r>
            <a:endParaRPr lang="en-US" sz="890" dirty="0"/>
          </a:p>
        </p:txBody>
      </p:sp>
      <p:sp>
        <p:nvSpPr>
          <p:cNvPr id="21" name="Shape 19"/>
          <p:cNvSpPr/>
          <p:nvPr/>
        </p:nvSpPr>
        <p:spPr>
          <a:xfrm>
            <a:off x="512064" y="24048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" y="24368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96312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87752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 physical cores</a:t>
            </a:r>
            <a:endParaRPr lang="en-US" sz="890" dirty="0"/>
          </a:p>
        </p:txBody>
      </p:sp>
      <p:sp>
        <p:nvSpPr>
          <p:cNvPr id="25" name="Shape 23"/>
          <p:cNvSpPr/>
          <p:nvPr/>
        </p:nvSpPr>
        <p:spPr>
          <a:xfrm>
            <a:off x="5504688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ECPUs</a:t>
            </a:r>
            <a:endParaRPr lang="en-US" sz="890" dirty="0"/>
          </a:p>
        </p:txBody>
      </p:sp>
      <p:sp>
        <p:nvSpPr>
          <p:cNvPr id="27" name="Shape 25"/>
          <p:cNvSpPr/>
          <p:nvPr/>
        </p:nvSpPr>
        <p:spPr>
          <a:xfrm>
            <a:off x="8513064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04504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1,520 ECPUs</a:t>
            </a:r>
            <a:endParaRPr lang="en-US" sz="890" dirty="0"/>
          </a:p>
        </p:txBody>
      </p:sp>
      <p:sp>
        <p:nvSpPr>
          <p:cNvPr id="29" name="Shape 27"/>
          <p:cNvSpPr/>
          <p:nvPr/>
        </p:nvSpPr>
        <p:spPr>
          <a:xfrm>
            <a:off x="512064" y="28620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" y="28940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memory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496312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7752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768 GB default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2,048 GB</a:t>
            </a:r>
            <a:endParaRPr lang="en-US" sz="890" dirty="0"/>
          </a:p>
        </p:txBody>
      </p:sp>
      <p:sp>
        <p:nvSpPr>
          <p:cNvPr id="33" name="Shape 31"/>
          <p:cNvSpPr/>
          <p:nvPr/>
        </p:nvSpPr>
        <p:spPr>
          <a:xfrm>
            <a:off x="5504688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available to VMs</a:t>
            </a:r>
            <a:endParaRPr lang="en-US" sz="890" dirty="0"/>
          </a:p>
        </p:txBody>
      </p:sp>
      <p:sp>
        <p:nvSpPr>
          <p:cNvPr id="35" name="Shape 33"/>
          <p:cNvSpPr/>
          <p:nvPr/>
        </p:nvSpPr>
        <p:spPr>
          <a:xfrm>
            <a:off x="8513064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04504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available to VMs</a:t>
            </a:r>
            <a:endParaRPr lang="en-US" sz="890" dirty="0"/>
          </a:p>
        </p:txBody>
      </p:sp>
      <p:sp>
        <p:nvSpPr>
          <p:cNvPr id="37" name="Shape 35"/>
          <p:cNvSpPr/>
          <p:nvPr/>
        </p:nvSpPr>
        <p:spPr>
          <a:xfrm>
            <a:off x="512064" y="33192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33512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compute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96312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87752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 storage cores</a:t>
            </a:r>
            <a:endParaRPr lang="en-US" sz="890" dirty="0"/>
          </a:p>
        </p:txBody>
      </p:sp>
      <p:sp>
        <p:nvSpPr>
          <p:cNvPr id="41" name="Shape 39"/>
          <p:cNvSpPr/>
          <p:nvPr/>
        </p:nvSpPr>
        <p:spPr>
          <a:xfrm>
            <a:off x="5504688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96 storage cores</a:t>
            </a:r>
            <a:endParaRPr lang="en-US" sz="890" dirty="0"/>
          </a:p>
        </p:txBody>
      </p:sp>
      <p:sp>
        <p:nvSpPr>
          <p:cNvPr id="43" name="Shape 41"/>
          <p:cNvSpPr/>
          <p:nvPr/>
        </p:nvSpPr>
        <p:spPr>
          <a:xfrm>
            <a:off x="8513064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04504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 storage cores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512064" y="37764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3504" y="38084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usable (ASM HR)¹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6312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87752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96.2 TB</a:t>
            </a:r>
            <a:endParaRPr lang="en-US" sz="890" dirty="0"/>
          </a:p>
        </p:txBody>
      </p:sp>
      <p:sp>
        <p:nvSpPr>
          <p:cNvPr id="49" name="Shape 47"/>
          <p:cNvSpPr/>
          <p:nvPr/>
        </p:nvSpPr>
        <p:spPr>
          <a:xfrm>
            <a:off x="5504688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6128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8513064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04504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</a:t>
            </a:r>
            <a:endParaRPr lang="en-US" sz="890" dirty="0"/>
          </a:p>
        </p:txBody>
      </p:sp>
      <p:sp>
        <p:nvSpPr>
          <p:cNvPr id="53" name="Shape 51"/>
          <p:cNvSpPr/>
          <p:nvPr/>
        </p:nvSpPr>
        <p:spPr>
          <a:xfrm>
            <a:off x="512064" y="42336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" y="42656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Flash · PMEM/XRMEM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96312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87752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· 2.3 TB PMEM</a:t>
            </a:r>
            <a:endParaRPr lang="en-US" sz="890" dirty="0"/>
          </a:p>
        </p:txBody>
      </p:sp>
      <p:sp>
        <p:nvSpPr>
          <p:cNvPr id="57" name="Shape 55"/>
          <p:cNvSpPr/>
          <p:nvPr/>
        </p:nvSpPr>
        <p:spPr>
          <a:xfrm>
            <a:off x="5504688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96128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· XRMEM 없음</a:t>
            </a:r>
            <a:endParaRPr lang="en-US" sz="890" dirty="0"/>
          </a:p>
        </p:txBody>
      </p:sp>
      <p:sp>
        <p:nvSpPr>
          <p:cNvPr id="59" name="Shape 57"/>
          <p:cNvSpPr/>
          <p:nvPr/>
        </p:nvSpPr>
        <p:spPr>
          <a:xfrm>
            <a:off x="8513064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04504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· 3.75 TB XRMEM</a:t>
            </a:r>
            <a:endParaRPr lang="en-US" sz="890" dirty="0"/>
          </a:p>
        </p:txBody>
      </p:sp>
      <p:sp>
        <p:nvSpPr>
          <p:cNvPr id="61" name="Shape 59"/>
          <p:cNvSpPr/>
          <p:nvPr/>
        </p:nvSpPr>
        <p:spPr>
          <a:xfrm>
            <a:off x="512064" y="46908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504" y="47228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BW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496312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87752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67.5 GB/s</a:t>
            </a:r>
            <a:endParaRPr lang="en-US" sz="890" dirty="0"/>
          </a:p>
        </p:txBody>
      </p:sp>
      <p:sp>
        <p:nvSpPr>
          <p:cNvPr id="65" name="Shape 63"/>
          <p:cNvSpPr/>
          <p:nvPr/>
        </p:nvSpPr>
        <p:spPr>
          <a:xfrm>
            <a:off x="5504688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96128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890" dirty="0"/>
          </a:p>
        </p:txBody>
      </p:sp>
      <p:sp>
        <p:nvSpPr>
          <p:cNvPr id="67" name="Shape 65"/>
          <p:cNvSpPr/>
          <p:nvPr/>
        </p:nvSpPr>
        <p:spPr>
          <a:xfrm>
            <a:off x="8513064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604504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300 GB/s</a:t>
            </a:r>
            <a:endParaRPr lang="en-US" sz="890" dirty="0"/>
          </a:p>
        </p:txBody>
      </p:sp>
      <p:sp>
        <p:nvSpPr>
          <p:cNvPr id="69" name="Shape 67"/>
          <p:cNvSpPr/>
          <p:nvPr/>
        </p:nvSpPr>
        <p:spPr>
          <a:xfrm>
            <a:off x="512064" y="51480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03504" y="51800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SQL Read / Write IOPS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496312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587752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2.8M / 921K</a:t>
            </a:r>
            <a:endParaRPr lang="en-US" sz="890" dirty="0"/>
          </a:p>
        </p:txBody>
      </p:sp>
      <p:sp>
        <p:nvSpPr>
          <p:cNvPr id="73" name="Shape 71"/>
          <p:cNvSpPr/>
          <p:nvPr/>
        </p:nvSpPr>
        <p:spPr>
          <a:xfrm>
            <a:off x="5504688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96128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/ 544K</a:t>
            </a:r>
            <a:endParaRPr lang="en-US" sz="890" dirty="0"/>
          </a:p>
        </p:txBody>
      </p:sp>
      <p:sp>
        <p:nvSpPr>
          <p:cNvPr id="75" name="Shape 73"/>
          <p:cNvSpPr/>
          <p:nvPr/>
        </p:nvSpPr>
        <p:spPr>
          <a:xfrm>
            <a:off x="8513064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04504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3.0M</a:t>
            </a:r>
            <a:endParaRPr lang="en-US" sz="890" dirty="0"/>
          </a:p>
        </p:txBody>
      </p:sp>
      <p:sp>
        <p:nvSpPr>
          <p:cNvPr id="77" name="Shape 75"/>
          <p:cNvSpPr/>
          <p:nvPr/>
        </p:nvSpPr>
        <p:spPr>
          <a:xfrm>
            <a:off x="512064" y="56052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03504" y="56372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Disk BW · IOPS · Load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496312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587752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 GB/s · 3,900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3.8 TB/hr</a:t>
            </a:r>
            <a:endParaRPr lang="en-US" sz="890" dirty="0"/>
          </a:p>
        </p:txBody>
      </p:sp>
      <p:sp>
        <p:nvSpPr>
          <p:cNvPr id="81" name="Shape 79"/>
          <p:cNvSpPr/>
          <p:nvPr/>
        </p:nvSpPr>
        <p:spPr>
          <a:xfrm>
            <a:off x="5504688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596128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 GB/s · 3,900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3.8 TB/hr</a:t>
            </a:r>
            <a:endParaRPr lang="en-US" sz="890" dirty="0"/>
          </a:p>
        </p:txBody>
      </p:sp>
      <p:sp>
        <p:nvSpPr>
          <p:cNvPr id="83" name="Shape 81"/>
          <p:cNvSpPr/>
          <p:nvPr/>
        </p:nvSpPr>
        <p:spPr>
          <a:xfrm>
            <a:off x="8513064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604504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GB/s · 7,800</a:t>
            </a:r>
            <a:endParaRPr lang="en-US" sz="890" dirty="0"/>
          </a:p>
          <a:p>
            <a:pPr algn="ctr" indent="0" marL="0">
              <a:buNone/>
            </a:pPr>
            <a:r>
              <a:rPr lang="en-US" sz="89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7.5 TB/hr</a:t>
            </a:r>
            <a:endParaRPr lang="en-US" sz="890" dirty="0"/>
          </a:p>
        </p:txBody>
      </p:sp>
      <p:sp>
        <p:nvSpPr>
          <p:cNvPr id="85" name="Shape 83"/>
          <p:cNvSpPr/>
          <p:nvPr/>
        </p:nvSpPr>
        <p:spPr>
          <a:xfrm>
            <a:off x="512064" y="6108192"/>
            <a:ext cx="11009376" cy="246888"/>
          </a:xfrm>
          <a:prstGeom prst="roundRect">
            <a:avLst>
              <a:gd name="adj" fmla="val 7407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21792" y="614476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¹ ASM High Redundancy usable · X9M physical core와 ExaC@C usable core/ECPU는 직접 등가 비교 불가 · X11M에는 공식 Quarter Rack shape가 없음</a:t>
            </a:r>
            <a:endParaRPr lang="en-US" sz="810" dirty="0"/>
          </a:p>
        </p:txBody>
      </p:sp>
      <p:sp>
        <p:nvSpPr>
          <p:cNvPr id="87" name="Shape 85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Oracle Exadata Database Machine X9M-2 DS (2023) pp.20–23 · ExaC@C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OPERATING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공통점은 Oracle infra 운영, 차이는 데이터 위치와 네트워크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Infrastructure는 OCI 리전, ExaCC는 고객 데이터센터 안에서 Cloud Control Plane 경험을 제공한다.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131A25"/>
          </a:solidFill>
          <a:ln w="12700">
            <a:solidFill>
              <a:srgbClr val="3A455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81928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0F1D25"/>
          </a:solidFill>
          <a:ln w="12700">
            <a:solidFill>
              <a:srgbClr val="28515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700784"/>
            <a:ext cx="768096" cy="292608"/>
          </a:xfrm>
          <a:prstGeom prst="roundRect">
            <a:avLst>
              <a:gd name="adj" fmla="val 28125"/>
            </a:avLst>
          </a:prstGeom>
          <a:solidFill>
            <a:srgbClr val="303A49"/>
          </a:solidFill>
          <a:ln w="12700">
            <a:solidFill>
              <a:srgbClr val="303A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700784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519672" y="1700784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19672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8096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93392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OCI 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993392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93392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8096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93392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VCN · 50 GbE 연결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pay-per-use · 최소 48시간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63256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Data Center · 방화벽 내부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63256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37960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63256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763256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VLAN · Base는 10/25 또는 10 Gb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37960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63256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 subscription · 최소 4년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4" y="6108192"/>
            <a:ext cx="11173968" cy="283464"/>
          </a:xfrm>
          <a:prstGeom prst="roundRect">
            <a:avLst>
              <a:gd name="adj" fmla="val 12903"/>
            </a:avLst>
          </a:prstGeom>
          <a:solidFill>
            <a:srgbClr val="201B17"/>
          </a:solidFill>
          <a:ln w="12700">
            <a:solidFill>
              <a:srgbClr val="5142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04088" y="6144768"/>
            <a:ext cx="10789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책임 경계: Oracle은 물리 서버·RoCE·KVM·Exadata System Software, 고객은 VM/OS·Grid/DB·데이터·접근권한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pp.6–10 · ExaCC X11M DS v1.5 pp.1, 6–10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인프라에 19c와 26ai를 “분리된 VM Cluster”로 병행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권장 아키텍처: 26ai DB에는 GI 26ai가 필요하며, major version별 lifecycle 격리로 patch coupling을 줄인다.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0472"/>
            <a:ext cx="1901952" cy="1152144"/>
          </a:xfrm>
          <a:prstGeom prst="roundRect">
            <a:avLst>
              <a:gd name="adj" fmla="val 6349"/>
            </a:avLst>
          </a:prstGeom>
          <a:solidFill>
            <a:srgbClr val="121A2A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1426464" cy="292608"/>
          </a:xfrm>
          <a:prstGeom prst="roundRect">
            <a:avLst>
              <a:gd name="adj" fmla="val 28125"/>
            </a:avLst>
          </a:prstGeom>
          <a:solidFill>
            <a:srgbClr val="1B2B46"/>
          </a:solidFill>
          <a:ln w="12700">
            <a:solidFill>
              <a:srgbClr val="1B2B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82496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CONTROL PLANE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 · REST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 · patch · backup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98064" y="1389888"/>
            <a:ext cx="8887968" cy="4736592"/>
          </a:xfrm>
          <a:prstGeom prst="roundRect">
            <a:avLst>
              <a:gd name="adj" fmla="val 1544"/>
            </a:avLst>
          </a:prstGeom>
          <a:solidFill>
            <a:srgbClr val="0C131D">
              <a:alpha val="82000"/>
            </a:srgbClr>
          </a:solidFill>
          <a:ln w="16510">
            <a:solidFill>
              <a:srgbClr val="3B4B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581912"/>
            <a:ext cx="1600200" cy="292608"/>
          </a:xfrm>
          <a:prstGeom prst="roundRect">
            <a:avLst>
              <a:gd name="adj" fmla="val 28125"/>
            </a:avLst>
          </a:prstGeom>
          <a:solidFill>
            <a:srgbClr val="202B3A"/>
          </a:solidFill>
          <a:ln w="12700">
            <a:solidFill>
              <a:srgbClr val="202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81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DATA CENTER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14016" y="2029968"/>
            <a:ext cx="1161288" cy="0"/>
          </a:xfrm>
          <a:prstGeom prst="line">
            <a:avLst/>
          </a:prstGeom>
          <a:noFill/>
          <a:ln w="25400">
            <a:solidFill>
              <a:srgbClr val="61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340864" y="1783080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secure tunnel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6976" y="1965960"/>
            <a:ext cx="1344168" cy="1005840"/>
          </a:xfrm>
          <a:prstGeom prst="roundRect">
            <a:avLst>
              <a:gd name="adj" fmla="val 5455"/>
            </a:avLst>
          </a:prstGeom>
          <a:solidFill>
            <a:srgbClr val="142133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74136" y="21945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Servers ×2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76148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availability와 분리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892040" y="1883664"/>
            <a:ext cx="6455664" cy="4069080"/>
          </a:xfrm>
          <a:prstGeom prst="roundRect">
            <a:avLst>
              <a:gd name="adj" fmla="val 1348"/>
            </a:avLst>
          </a:prstGeom>
          <a:solidFill>
            <a:srgbClr val="131C28"/>
          </a:solidFill>
          <a:ln w="12700">
            <a:solidFill>
              <a:srgbClr val="4A607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2936" y="2084832"/>
            <a:ext cx="2377440" cy="292608"/>
          </a:xfrm>
          <a:prstGeom prst="roundRect">
            <a:avLst>
              <a:gd name="adj" fmla="val 28125"/>
            </a:avLst>
          </a:prstGeom>
          <a:solidFill>
            <a:srgbClr val="2A3545"/>
          </a:solidFill>
          <a:ln w="12700">
            <a:solidFill>
              <a:srgbClr val="2A3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BASE SYSTEM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30368" y="2395728"/>
            <a:ext cx="2313432" cy="292608"/>
          </a:xfrm>
          <a:prstGeom prst="roundRect">
            <a:avLst>
              <a:gd name="adj" fmla="val 28125"/>
            </a:avLst>
          </a:prstGeom>
          <a:solidFill>
            <a:srgbClr val="1A3140"/>
          </a:solidFill>
          <a:ln w="12700">
            <a:solidFill>
              <a:srgbClr val="1A31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2395728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PHYSICAL LAYER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30368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58384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8384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0176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58384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0176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DB-1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537960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65976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5976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7768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5976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87768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DB-2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5184648" y="3685032"/>
            <a:ext cx="2395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· 240 ECPUs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9512" y="3968496"/>
            <a:ext cx="2304288" cy="0"/>
          </a:xfrm>
          <a:prstGeom prst="line">
            <a:avLst/>
          </a:prstGeom>
          <a:noFill/>
          <a:ln w="31750">
            <a:solidFill>
              <a:srgbClr val="45C7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85232" y="4023360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 Gb/s RoCE internal fabric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38928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138928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138928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89320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989320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989320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839712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839712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STG-3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839712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102352" y="5285232"/>
            <a:ext cx="2596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40" dirty="0"/>
          </a:p>
        </p:txBody>
      </p:sp>
      <p:sp>
        <p:nvSpPr>
          <p:cNvPr id="52" name="Text 50"/>
          <p:cNvSpPr/>
          <p:nvPr/>
        </p:nvSpPr>
        <p:spPr>
          <a:xfrm>
            <a:off x="5084064" y="5522976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· no XRMEM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193024" y="1901952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0222A"/>
          </a:solidFill>
          <a:ln w="12700">
            <a:solidFill>
              <a:srgbClr val="27606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0" y="2103120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173D42"/>
          </a:solidFill>
          <a:ln w="12700">
            <a:solidFill>
              <a:srgbClr val="173D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10312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412480" y="2459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19c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412480" y="276148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 · DB Home 19c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412480" y="3035808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AWR sizing 후 할당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8193024" y="3694176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A1730"/>
          </a:solidFill>
          <a:ln w="12700">
            <a:solidFill>
              <a:srgbClr val="4C397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412480" y="3895344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332452"/>
          </a:solidFill>
          <a:ln w="12700">
            <a:solidFill>
              <a:srgbClr val="33245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89534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12480" y="42519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AI Database 26ai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8412480" y="455371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26ai · DB Home 26ai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12480" y="4828032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별도 sizing/승인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7891272" y="2907792"/>
            <a:ext cx="301752" cy="0"/>
          </a:xfrm>
          <a:prstGeom prst="line">
            <a:avLst/>
          </a:prstGeom>
          <a:noFill/>
          <a:ln w="2032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7891272" y="4498848"/>
            <a:ext cx="301752" cy="0"/>
          </a:xfrm>
          <a:prstGeom prst="line">
            <a:avLst/>
          </a:prstGeom>
          <a:noFill/>
          <a:ln w="20320">
            <a:solidFill>
              <a:srgbClr val="B18CFF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412480" y="5449824"/>
            <a:ext cx="2688336" cy="292608"/>
          </a:xfrm>
          <a:prstGeom prst="roundRect">
            <a:avLst>
              <a:gd name="adj" fmla="val 28125"/>
            </a:avLst>
          </a:prstGeom>
          <a:solidFill>
            <a:srgbClr val="3A301F"/>
          </a:solidFill>
          <a:ln w="12700">
            <a:solidFill>
              <a:srgbClr val="3A301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12480" y="544982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2개 · 시스템 최대 12 VM Clusters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065008" y="5760720"/>
            <a:ext cx="3127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분리 · CPU/Memory 별도 할당 · 공용 Exadata Storage</a:t>
            </a:r>
            <a:endParaRPr lang="en-US" sz="830" dirty="0"/>
          </a:p>
        </p:txBody>
      </p:sp>
      <p:sp>
        <p:nvSpPr>
          <p:cNvPr id="70" name="Text 68"/>
          <p:cNvSpPr/>
          <p:nvPr/>
        </p:nvSpPr>
        <p:spPr>
          <a:xfrm>
            <a:off x="3154680" y="537667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/ Backup VLAN</a:t>
            </a:r>
            <a:endParaRPr lang="en-US" sz="840" dirty="0"/>
          </a:p>
        </p:txBody>
      </p:sp>
      <p:sp>
        <p:nvSpPr>
          <p:cNvPr id="71" name="Shape 69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[2] X11M DS Table 1 · [4] Manage VM Clusters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TRANSITION BLUEPRINT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baseline: ZDM Physical Online → 26ai는 별도 lifecycle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기반 online migration을 기준으로 abort·fallback·failback을 target write 시점에 따라 구분한다.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71D28"/>
          </a:solidFill>
          <a:ln w="12700">
            <a:solidFill>
              <a:srgbClr val="3E4859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333C49"/>
          </a:solidFill>
          <a:ln w="12700">
            <a:solidFill>
              <a:srgbClr val="333C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1579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 Quarter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23544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2807208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19072" y="2971800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9072" y="3136392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RAC 19c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758952" y="368503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" y="408736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PRIMARY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" y="43342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전까지 write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802368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0222A"/>
          </a:solidFill>
          <a:ln w="12700">
            <a:solidFill>
              <a:srgbClr val="2B5F6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0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021824" y="21579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213848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2807208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41864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09376" y="297180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09376" y="313639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13848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03536" y="368503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003536" y="4078224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PRIMARY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003536" y="432511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후 write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2377440" y="2962656"/>
            <a:ext cx="7424928" cy="0"/>
          </a:xfrm>
          <a:prstGeom prst="line">
            <a:avLst/>
          </a:prstGeom>
          <a:noFill/>
          <a:ln w="38100">
            <a:solidFill>
              <a:srgbClr val="34516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05456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0545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Assess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215798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 · ASM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RPO/RTO · 성장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3685032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5032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65576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37560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VLAN · 방화벽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DNS/NTP · backup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4864608" y="2624328"/>
            <a:ext cx="658368" cy="658368"/>
          </a:xfrm>
          <a:prstGeom prst="diamond">
            <a:avLst/>
          </a:prstGeom>
          <a:solidFill>
            <a:srgbClr val="1F3447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46320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645152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4517136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gate 통과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Cluster 생성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6044184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44184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824728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Pre-copy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696712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ZDM Physical Online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sync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7223760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23760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205472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004304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876288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write stop · final sync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role/route 전환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8403336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0333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85048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18388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Stabilize</a:t>
            </a:r>
            <a:endParaRPr lang="en-US" sz="980" dirty="0"/>
          </a:p>
        </p:txBody>
      </p:sp>
      <p:sp>
        <p:nvSpPr>
          <p:cNvPr id="62" name="Text 60"/>
          <p:cNvSpPr/>
          <p:nvPr/>
        </p:nvSpPr>
        <p:spPr>
          <a:xfrm>
            <a:off x="805586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 · backup · HA/DR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acceptance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2505456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2624328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ABORT · switchover 전</a:t>
            </a:r>
            <a:endParaRPr lang="en-US" sz="880" dirty="0"/>
          </a:p>
        </p:txBody>
      </p:sp>
      <p:sp>
        <p:nvSpPr>
          <p:cNvPr id="65" name="Text 63"/>
          <p:cNvSpPr/>
          <p:nvPr/>
        </p:nvSpPr>
        <p:spPr>
          <a:xfrm>
            <a:off x="2615184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primary 유지 · migration 중단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0 · route 변경 없음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4892040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6B4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010912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FALLBACK · target write 전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5001768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X9M으로 route 복귀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write 0건 확인 필수</a:t>
            </a:r>
            <a:endParaRPr lang="en-US" sz="820" dirty="0"/>
          </a:p>
        </p:txBody>
      </p:sp>
      <p:sp>
        <p:nvSpPr>
          <p:cNvPr id="69" name="Shape 67"/>
          <p:cNvSpPr/>
          <p:nvPr/>
        </p:nvSpPr>
        <p:spPr>
          <a:xfrm>
            <a:off x="7278624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7397496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FAILBACK · target write 후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7388352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rollback 불가 · reverse DG/restore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RPO/RTO + rehearsal 필수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512064" y="5751576"/>
            <a:ext cx="11173968" cy="429768"/>
          </a:xfrm>
          <a:prstGeom prst="roundRect">
            <a:avLst>
              <a:gd name="adj" fmla="val 8511"/>
            </a:avLst>
          </a:prstGeom>
          <a:solidFill>
            <a:srgbClr val="131B26"/>
          </a:solidFill>
          <a:ln w="12700">
            <a:solidFill>
              <a:srgbClr val="28354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49808" y="58430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26ai는 19c landing과 분리: 새 VM Cluster → 새 DB Home → compatibility test → 별도 change approval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“Migration to ExaCC” · baseline runbook is an architecture recommendation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System은 “조건부 후보” — published maximum은 GO 기준이 아니다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threshold는 성장·N-1·backup/DR·배치 중첩·운영 안전율을 포함한 workload POC로 승인한다.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0242A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· CANDIDATE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hard ceiling 이하 + 검증된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58952" y="277977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85/42 TB는 hard ceiling · target limit 별도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2644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597K/37.5 GB/s는 max · GO threshold 금지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3749040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 + 성장 + N-1 + backup/DR 포함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8952" y="4233672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workload POC가 SLA 충족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952" y="4718304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안전율을 business owner가 승인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4256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21F31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62856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STD · 비교 후보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62856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예시: 2 Std DB + 3 HC w/XRMEM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81144" y="2779776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81144" y="3264408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HC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3749040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81144" y="4233672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read IOPS · 300 GB/s flash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81144" y="4718304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동급 아님 · license/POC 재산정 필수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56448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28191C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85048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NO-GO · 재설계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385048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확정 전 해소할 blocker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403336" y="2779776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22792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DB size가 85/42 TB ceiling 초과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403336" y="3264408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22792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N-1·backup·배치 포함 시 SLA 실패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03336" y="3749040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22792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client/backup network 설계 미충족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403336" y="4233672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22792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ZDM prerequisite/support 미확인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403336" y="4718304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22792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계약·운영 책임 승인 없음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" y="5870448"/>
            <a:ext cx="11173968" cy="411480"/>
          </a:xfrm>
          <a:prstGeom prst="roundRect">
            <a:avLst>
              <a:gd name="adj" fmla="val 6667"/>
            </a:avLst>
          </a:prstGeom>
          <a:solidFill>
            <a:srgbClr val="211B17"/>
          </a:solidFill>
          <a:ln w="12700">
            <a:solidFill>
              <a:srgbClr val="8A673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67512" y="5943600"/>
            <a:ext cx="10863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승인 GATE · AWR/ASH · ASM/backup · workload POC · N-1/HA/DR rehearsal · network latency · MOS support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Table 1 · published maxima are not workload guarantees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&amp;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Datasheet 반영 범위와 배포 전 검증 조건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첨부는 Cloud Infrastructure v1.11, X11M 첨부는 Database Machine v1.2이며 ExaCC 고유 수치는 공식 v1.5로 보완했다.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9616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73352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733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80160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Cloud Infrastructure X9M DS v1.11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80160" y="18653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Quarter 2+3, 252 usable cores, 2,780GB VM memory, 190TB usable disk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382512" y="1719072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첨부 X9M Cloud Infrastructure DS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12064" y="2487168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660904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6090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0160" y="25968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Database Machine X11M DS v1.2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하드웨어, DDR5/PCIe 5.0, XRMEM, AI Smart Scan, Exascale 맥락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6382512" y="2706624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[2] 첨부 X11M Database Machine 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" y="3474720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648456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648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80160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Data Sheet v1.5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80160" y="38404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specs, 책임 모델, 4년 infrastructure subscription, ZDM 권고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382512" y="3694176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[3] ExaCC X11M DS Table 1, pp.6–11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4462272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636008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280160" y="4572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Manage VM Clusters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280160" y="48280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19c/26ai 선택, 26ai DB의 GI 26ai 요구사항과 software minimum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382512" y="4681728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[4] VM Cluster administration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2064" y="5559552"/>
            <a:ext cx="11173968" cy="621792"/>
          </a:xfrm>
          <a:prstGeom prst="roundRect">
            <a:avLst>
              <a:gd name="adj" fmla="val 7353"/>
            </a:avLst>
          </a:prstGeom>
          <a:solidFill>
            <a:srgbClr val="241B17"/>
          </a:solidFill>
          <a:ln w="12700">
            <a:solidFill>
              <a:srgbClr val="5B3C2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9808" y="5669280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5614416"/>
            <a:ext cx="9464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Owner: 고객 DBA/Infra + Oracle · AWR/ASM sizing, MOS/RU·GI 검증, network readiness · 상세설계 착수 전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1874520" y="5870448"/>
            <a:ext cx="9464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제공 여부 · Guest image · 라이선스 · ZDM 경로 · 승인 RPO/RTO 재확인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architecture · not deployment approval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Exadata X9M Quarter Rack → ExaCC X11M Base System</dc:title>
  <dc:subject>Exadata X9M Quarter Rack to Exadata Cloud@Customer X11M Base System transition</dc:subject>
  <dc:creator>Astra · Nexus IT</dc:creator>
  <cp:lastModifiedBy>Astra · Nexus IT</cp:lastModifiedBy>
  <cp:revision>1</cp:revision>
  <dcterms:created xsi:type="dcterms:W3CDTF">2026-07-24T04:35:45Z</dcterms:created>
  <dcterms:modified xsi:type="dcterms:W3CDTF">2026-07-24T04:35:45Z</dcterms:modified>
</cp:coreProperties>
</file>