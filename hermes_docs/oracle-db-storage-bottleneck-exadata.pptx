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9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43D30"/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2600" y="2011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60" kern="0" dirty="0">
                <a:solidFill>
                  <a:srgbClr val="6975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DATABASE  →  EXADATA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5488" y="6556248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975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Conceptual architecture · storage I/O bottleneck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726680" y="655624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9758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Oracle Exadata Database Machine overview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586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586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9260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Oracle DB 성능의 오래된 병목은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5488" y="72237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“데이터를 처리하는 CPU”보다 “데이터를 가져오는 I/O”였다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71016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※ 모든 성능 문제의 원인이 스토리지는 아니지만, 대규모 분석·스캔에서는 데이터 이동이 지배적 병목이 되기 쉽다.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5488" y="1664208"/>
            <a:ext cx="3950208" cy="4315968"/>
          </a:xfrm>
          <a:prstGeom prst="roundRect">
            <a:avLst>
              <a:gd name="adj" fmla="val 2315"/>
            </a:avLst>
          </a:prstGeom>
          <a:solidFill>
            <a:srgbClr val="111925"/>
          </a:solidFill>
          <a:ln w="15240">
            <a:solidFill>
              <a:srgbClr val="2B364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874520"/>
            <a:ext cx="1874520" cy="301752"/>
          </a:xfrm>
          <a:prstGeom prst="roundRect">
            <a:avLst>
              <a:gd name="adj" fmla="val 24242"/>
            </a:avLst>
          </a:prstGeom>
          <a:solidFill>
            <a:srgbClr val="3B1D22"/>
          </a:solidFill>
          <a:ln w="12700">
            <a:solidFill>
              <a:srgbClr val="3B1D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874520"/>
            <a:ext cx="1874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 · 전통적 분리형 구조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225856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 서버가 “모든 블록”을 끌어와 처리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25296" y="2724912"/>
            <a:ext cx="2450592" cy="1143000"/>
          </a:xfrm>
          <a:prstGeom prst="roundRect">
            <a:avLst>
              <a:gd name="adj" fmla="val 6400"/>
            </a:avLst>
          </a:prstGeom>
          <a:solidFill>
            <a:srgbClr val="182230"/>
          </a:solidFill>
          <a:ln w="13970">
            <a:solidFill>
              <a:srgbClr val="35445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89888" y="2898648"/>
            <a:ext cx="2121408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46704" y="2939796"/>
            <a:ext cx="64008" cy="6400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191256"/>
            <a:ext cx="2121408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46704" y="3232404"/>
            <a:ext cx="64008" cy="6400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89888" y="3483864"/>
            <a:ext cx="2121408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3525012"/>
            <a:ext cx="64008" cy="64008"/>
          </a:xfrm>
          <a:prstGeom prst="ellipse">
            <a:avLst/>
          </a:prstGeom>
          <a:solidFill>
            <a:srgbClr val="FF6B5E"/>
          </a:solidFill>
          <a:ln w="12700">
            <a:solidFill>
              <a:srgbClr val="FF6B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9359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 Server · SQL/CPU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286000" y="3922776"/>
            <a:ext cx="438912" cy="621792"/>
          </a:xfrm>
          <a:prstGeom prst="upArrow">
            <a:avLst/>
          </a:prstGeom>
          <a:solidFill>
            <a:srgbClr val="E43D30">
              <a:alpha val="96000"/>
            </a:srgbClr>
          </a:solidFill>
          <a:ln w="12700">
            <a:solidFill>
              <a:srgbClr val="E43D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40965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대량 블록 이동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33272" y="4617720"/>
            <a:ext cx="2852928" cy="841248"/>
          </a:xfrm>
          <a:prstGeom prst="roundRect">
            <a:avLst>
              <a:gd name="adj" fmla="val 8696"/>
            </a:avLst>
          </a:prstGeom>
          <a:solidFill>
            <a:srgbClr val="151D29"/>
          </a:solidFill>
          <a:ln w="13970">
            <a:solidFill>
              <a:srgbClr val="3442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97864" y="4782312"/>
            <a:ext cx="201168" cy="201168"/>
          </a:xfrm>
          <a:prstGeom prst="ellipse">
            <a:avLst/>
          </a:prstGeom>
          <a:solidFill>
            <a:srgbClr val="FF6B5E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08760" y="4782312"/>
            <a:ext cx="201168" cy="201168"/>
          </a:xfrm>
          <a:prstGeom prst="ellipse">
            <a:avLst/>
          </a:prstGeom>
          <a:solidFill>
            <a:srgbClr val="FF6B5E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19656" y="4782312"/>
            <a:ext cx="201168" cy="201168"/>
          </a:xfrm>
          <a:prstGeom prst="ellipse">
            <a:avLst/>
          </a:prstGeom>
          <a:solidFill>
            <a:srgbClr val="FF6B5E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30552" y="4782312"/>
            <a:ext cx="201168" cy="201168"/>
          </a:xfrm>
          <a:prstGeom prst="ellipse">
            <a:avLst/>
          </a:prstGeom>
          <a:solidFill>
            <a:srgbClr val="FF6B5E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97864" y="5093208"/>
            <a:ext cx="201168" cy="201168"/>
          </a:xfrm>
          <a:prstGeom prst="ellipse">
            <a:avLst/>
          </a:prstGeom>
          <a:solidFill>
            <a:srgbClr val="263346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08760" y="5093208"/>
            <a:ext cx="201168" cy="201168"/>
          </a:xfrm>
          <a:prstGeom prst="ellipse">
            <a:avLst/>
          </a:prstGeom>
          <a:solidFill>
            <a:srgbClr val="263346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19656" y="5093208"/>
            <a:ext cx="201168" cy="201168"/>
          </a:xfrm>
          <a:prstGeom prst="ellipse">
            <a:avLst/>
          </a:prstGeom>
          <a:solidFill>
            <a:srgbClr val="263346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130552" y="5093208"/>
            <a:ext cx="201168" cy="201168"/>
          </a:xfrm>
          <a:prstGeom prst="ellipse">
            <a:avLst/>
          </a:prstGeom>
          <a:solidFill>
            <a:srgbClr val="263346"/>
          </a:solidFill>
          <a:ln w="6350">
            <a:solidFill>
              <a:srgbClr val="53627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4754880"/>
            <a:ext cx="120700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Storage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4672" y="55961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필터링 · 조인 · 집계는 DB 서버 도착 후 수행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51376" y="2862072"/>
            <a:ext cx="1572768" cy="1572768"/>
          </a:xfrm>
          <a:prstGeom prst="ellipse">
            <a:avLst/>
          </a:prstGeom>
          <a:solidFill>
            <a:srgbClr val="20171B"/>
          </a:solidFill>
          <a:ln w="19050">
            <a:solidFill>
              <a:srgbClr val="FFB8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16552" y="3099816"/>
            <a:ext cx="1042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병목의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B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본질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407408" y="3666744"/>
            <a:ext cx="1060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I/O 대기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15384" y="4553712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B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이동량을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B8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줄여야 한다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73168" y="5138928"/>
            <a:ext cx="749808" cy="384048"/>
          </a:xfrm>
          <a:prstGeom prst="chevron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9592" y="1664208"/>
            <a:ext cx="5833872" cy="4315968"/>
          </a:xfrm>
          <a:prstGeom prst="roundRect">
            <a:avLst>
              <a:gd name="adj" fmla="val 2119"/>
            </a:avLst>
          </a:prstGeom>
          <a:solidFill>
            <a:srgbClr val="0E1724"/>
          </a:solidFill>
          <a:ln w="15240">
            <a:solidFill>
              <a:srgbClr val="20424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874520"/>
            <a:ext cx="1389888" cy="301752"/>
          </a:xfrm>
          <a:prstGeom prst="roundRect">
            <a:avLst>
              <a:gd name="adj" fmla="val 24242"/>
            </a:avLst>
          </a:prstGeom>
          <a:solidFill>
            <a:srgbClr val="14383A"/>
          </a:solidFill>
          <a:ln w="12700">
            <a:solidFill>
              <a:srgbClr val="1438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1874520"/>
            <a:ext cx="138988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· Exadata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44768" y="2258568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SQL 처리를 데이터가 있는 Storage Cell로 이동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7699248" y="2706624"/>
            <a:ext cx="2249424" cy="987552"/>
          </a:xfrm>
          <a:prstGeom prst="roundRect">
            <a:avLst>
              <a:gd name="adj" fmla="val 7407"/>
            </a:avLst>
          </a:prstGeom>
          <a:solidFill>
            <a:srgbClr val="182230"/>
          </a:solidFill>
          <a:ln w="13970">
            <a:solidFill>
              <a:srgbClr val="35445A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863840" y="2880360"/>
            <a:ext cx="1920240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19488" y="2921508"/>
            <a:ext cx="64008" cy="64008"/>
          </a:xfrm>
          <a:prstGeom prst="ellipse">
            <a:avLst/>
          </a:prstGeom>
          <a:solidFill>
            <a:srgbClr val="38C5D8"/>
          </a:solidFill>
          <a:ln w="12700">
            <a:solidFill>
              <a:srgbClr val="38C5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63840" y="3172968"/>
            <a:ext cx="1920240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619488" y="3214116"/>
            <a:ext cx="64008" cy="64008"/>
          </a:xfrm>
          <a:prstGeom prst="ellipse">
            <a:avLst/>
          </a:prstGeom>
          <a:solidFill>
            <a:srgbClr val="38C5D8"/>
          </a:solidFill>
          <a:ln w="12700">
            <a:solidFill>
              <a:srgbClr val="38C5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63840" y="3465576"/>
            <a:ext cx="1920240" cy="164592"/>
          </a:xfrm>
          <a:prstGeom prst="rect">
            <a:avLst/>
          </a:prstGeom>
          <a:solidFill>
            <a:srgbClr val="0D131D"/>
          </a:solidFill>
          <a:ln w="7620">
            <a:solidFill>
              <a:srgbClr val="2B394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19488" y="3506724"/>
            <a:ext cx="64008" cy="64008"/>
          </a:xfrm>
          <a:prstGeom prst="ellipse">
            <a:avLst/>
          </a:prstGeom>
          <a:solidFill>
            <a:srgbClr val="38C5D8"/>
          </a:solidFill>
          <a:ln w="12700">
            <a:solidFill>
              <a:srgbClr val="38C5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699248" y="3419856"/>
            <a:ext cx="2249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Database Server · 결과 처리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796528" y="3703320"/>
            <a:ext cx="384048" cy="429768"/>
          </a:xfrm>
          <a:prstGeom prst="upArrow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253728" y="376732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결과만 반환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6245352" y="4197096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11262B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73368" y="4334256"/>
            <a:ext cx="393192" cy="393192"/>
          </a:xfrm>
          <a:prstGeom prst="rect">
            <a:avLst/>
          </a:prstGeom>
          <a:solidFill>
            <a:srgbClr val="183B3F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83096" y="4443984"/>
            <a:ext cx="173736" cy="1737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6288" y="430682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Smart Scan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76288" y="45537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필터 · Projection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8001000" y="4197096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11262B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129016" y="4334256"/>
            <a:ext cx="393192" cy="393192"/>
          </a:xfrm>
          <a:prstGeom prst="rect">
            <a:avLst/>
          </a:prstGeom>
          <a:solidFill>
            <a:srgbClr val="183B3F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38744" y="4443984"/>
            <a:ext cx="173736" cy="1737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631936" y="430682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Storage Index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631936" y="45537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불필요 영역 Skip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756648" y="4197096"/>
            <a:ext cx="1627632" cy="749808"/>
          </a:xfrm>
          <a:prstGeom prst="roundRect">
            <a:avLst>
              <a:gd name="adj" fmla="val 9756"/>
            </a:avLst>
          </a:prstGeom>
          <a:solidFill>
            <a:srgbClr val="11262B"/>
          </a:solidFill>
          <a:ln w="13970">
            <a:solidFill>
              <a:srgbClr val="2DD4BF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9884664" y="4334256"/>
            <a:ext cx="393192" cy="393192"/>
          </a:xfrm>
          <a:prstGeom prst="rect">
            <a:avLst/>
          </a:prstGeom>
          <a:solidFill>
            <a:srgbClr val="183B3F"/>
          </a:solidFill>
          <a:ln w="10160">
            <a:solidFill>
              <a:srgbClr val="2DD4B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94392" y="4443984"/>
            <a:ext cx="173736" cy="173736"/>
          </a:xfrm>
          <a:prstGeom prst="ellipse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87584" y="4306824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Parallel Cells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10387584" y="45537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 병렬 처리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059168" y="5093208"/>
            <a:ext cx="3520440" cy="0"/>
          </a:xfrm>
          <a:prstGeom prst="line">
            <a:avLst/>
          </a:prstGeom>
          <a:noFill/>
          <a:ln w="15240">
            <a:solidFill>
              <a:srgbClr val="2C7E83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36208" y="5330952"/>
            <a:ext cx="5157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B5C0C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스토리지는 더 이상 “수동 디스크”가 아니라 SQL-aware processing layer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75488" y="6144768"/>
            <a:ext cx="11237976" cy="310896"/>
          </a:xfrm>
          <a:prstGeom prst="roundRect">
            <a:avLst>
              <a:gd name="adj" fmla="val 23529"/>
            </a:avLst>
          </a:prstGeom>
          <a:solidFill>
            <a:srgbClr val="171F2B"/>
          </a:solidFill>
          <a:ln w="10160">
            <a:solidFill>
              <a:srgbClr val="2A374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3232" y="6163056"/>
            <a:ext cx="10634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6B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Exadata의 혁신  —  </a:t>
            </a:r>
            <a:pPr algn="l"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“스토리지에서 데이터를 꺼내 오는 방식”을  </a:t>
            </a:r>
            <a:pPr algn="l" indent="0" marL="0">
              <a:buNone/>
            </a:pPr>
            <a:r>
              <a:rPr lang="en-US" sz="1000" b="1" dirty="0">
                <a:solidFill>
                  <a:srgbClr val="2DD4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“스토리지에서 먼저 처리하고 결과만 보내는 방식”</a:t>
            </a:r>
            <a:pPr algn="l" indent="0" marL="0">
              <a:buNone/>
            </a:pPr>
            <a:r>
              <a:rPr lang="en-US" sz="1000" dirty="0">
                <a:solidFill>
                  <a:srgbClr val="F6F8F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바꾼 것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14048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97586"/>
                </a:solidFill>
                <a:latin typeface="Noto Sans KR"/>
                <a:ea typeface="Noto Sans KR"/>
                <a:cs typeface="Noto Sans KR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Nexus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DB 성능 병목과 Exadata의 혁신</dc:title>
  <dc:subject>Oracle DB storage bottleneck and Exadata innovation</dc:subject>
  <dc:creator>Astra · Nexus IT</dc:creator>
  <cp:lastModifiedBy>Astra · Nexus IT</cp:lastModifiedBy>
  <cp:revision>1</cp:revision>
  <dcterms:created xsi:type="dcterms:W3CDTF">2026-07-21T10:00:48Z</dcterms:created>
  <dcterms:modified xsi:type="dcterms:W3CDTF">2026-07-21T10:00:48Z</dcterms:modified>
</cp:coreProperties>
</file>