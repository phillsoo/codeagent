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43D30"/>
          </a:solidFill>
          <a:ln w="12700">
            <a:solidFill>
              <a:srgbClr val="E43D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72600" y="2011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60" kern="0" dirty="0">
                <a:solidFill>
                  <a:srgbClr val="9CA9B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DATABASE  →  EXADATA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6556248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9B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Conceptual architecture · storage I/O bottleneck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726680" y="6556248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9B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Oracle Exadata Database Machine overview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97586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97586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DB 대규모 분석의 오래된 병목은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22376"/>
            <a:ext cx="9966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 연산보다 데이터 이동·I/O였다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2710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2D9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모든 성능 문제의 원인이 스토리지는 아니지만, 대규모 분석·스캔에서는 데이터 이동이 지배적 병목이 되기 쉽다.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75488" y="1664208"/>
            <a:ext cx="3950208" cy="4315968"/>
          </a:xfrm>
          <a:prstGeom prst="roundRect">
            <a:avLst>
              <a:gd name="adj" fmla="val 2315"/>
            </a:avLst>
          </a:prstGeom>
          <a:solidFill>
            <a:srgbClr val="111925"/>
          </a:solidFill>
          <a:ln w="15240">
            <a:solidFill>
              <a:srgbClr val="2B3647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874520"/>
            <a:ext cx="1874520" cy="301752"/>
          </a:xfrm>
          <a:prstGeom prst="roundRect">
            <a:avLst>
              <a:gd name="adj" fmla="val 24242"/>
            </a:avLst>
          </a:prstGeom>
          <a:solidFill>
            <a:srgbClr val="3B1D22"/>
          </a:solidFill>
          <a:ln w="12700">
            <a:solidFill>
              <a:srgbClr val="3B1D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874520"/>
            <a:ext cx="1874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전통적 분리형 구조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25856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서버가 “모든 블록”을 끌어와 처리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25296" y="2724912"/>
            <a:ext cx="2450592" cy="1143000"/>
          </a:xfrm>
          <a:prstGeom prst="roundRect">
            <a:avLst>
              <a:gd name="adj" fmla="val 6400"/>
            </a:avLst>
          </a:prstGeom>
          <a:solidFill>
            <a:srgbClr val="182230"/>
          </a:solidFill>
          <a:ln w="13970">
            <a:solidFill>
              <a:srgbClr val="35445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389888" y="2898648"/>
            <a:ext cx="2121408" cy="164592"/>
          </a:xfrm>
          <a:prstGeom prst="rect">
            <a:avLst/>
          </a:prstGeom>
          <a:solidFill>
            <a:srgbClr val="0D131D"/>
          </a:solidFill>
          <a:ln w="7620">
            <a:solidFill>
              <a:srgbClr val="2B39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2939796"/>
            <a:ext cx="64008" cy="6400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191256"/>
            <a:ext cx="2121408" cy="164592"/>
          </a:xfrm>
          <a:prstGeom prst="rect">
            <a:avLst/>
          </a:prstGeom>
          <a:solidFill>
            <a:srgbClr val="0D131D"/>
          </a:solidFill>
          <a:ln w="7620">
            <a:solidFill>
              <a:srgbClr val="2B39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46704" y="3232404"/>
            <a:ext cx="64008" cy="6400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3483864"/>
            <a:ext cx="2121408" cy="164592"/>
          </a:xfrm>
          <a:prstGeom prst="rect">
            <a:avLst/>
          </a:prstGeom>
          <a:solidFill>
            <a:srgbClr val="0D131D"/>
          </a:solidFill>
          <a:ln w="7620">
            <a:solidFill>
              <a:srgbClr val="2B394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46704" y="3525012"/>
            <a:ext cx="64008" cy="6400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3593592"/>
            <a:ext cx="2450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 Server · SQL/CPU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0" y="3922776"/>
            <a:ext cx="438912" cy="621792"/>
          </a:xfrm>
          <a:prstGeom prst="upArrow">
            <a:avLst/>
          </a:prstGeom>
          <a:solidFill>
            <a:srgbClr val="E43D30">
              <a:alpha val="96000"/>
            </a:srgbClr>
          </a:solidFill>
          <a:ln w="12700">
            <a:solidFill>
              <a:srgbClr val="E43D3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0965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대량 블록 이동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33272" y="4617720"/>
            <a:ext cx="2852928" cy="841248"/>
          </a:xfrm>
          <a:prstGeom prst="roundRect">
            <a:avLst>
              <a:gd name="adj" fmla="val 8696"/>
            </a:avLst>
          </a:prstGeom>
          <a:solidFill>
            <a:srgbClr val="151D29"/>
          </a:solidFill>
          <a:ln w="13970">
            <a:solidFill>
              <a:srgbClr val="344257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97864" y="4782312"/>
            <a:ext cx="201168" cy="201168"/>
          </a:xfrm>
          <a:prstGeom prst="ellipse">
            <a:avLst/>
          </a:prstGeom>
          <a:solidFill>
            <a:srgbClr val="FF6B5E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08760" y="4782312"/>
            <a:ext cx="201168" cy="201168"/>
          </a:xfrm>
          <a:prstGeom prst="ellipse">
            <a:avLst/>
          </a:prstGeom>
          <a:solidFill>
            <a:srgbClr val="FF6B5E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19656" y="4782312"/>
            <a:ext cx="201168" cy="201168"/>
          </a:xfrm>
          <a:prstGeom prst="ellipse">
            <a:avLst/>
          </a:prstGeom>
          <a:solidFill>
            <a:srgbClr val="FF6B5E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30552" y="4782312"/>
            <a:ext cx="201168" cy="201168"/>
          </a:xfrm>
          <a:prstGeom prst="ellipse">
            <a:avLst/>
          </a:prstGeom>
          <a:solidFill>
            <a:srgbClr val="FF6B5E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7864" y="5093208"/>
            <a:ext cx="201168" cy="201168"/>
          </a:xfrm>
          <a:prstGeom prst="ellipse">
            <a:avLst/>
          </a:prstGeom>
          <a:solidFill>
            <a:srgbClr val="263346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08760" y="5093208"/>
            <a:ext cx="201168" cy="201168"/>
          </a:xfrm>
          <a:prstGeom prst="ellipse">
            <a:avLst/>
          </a:prstGeom>
          <a:solidFill>
            <a:srgbClr val="263346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19656" y="5093208"/>
            <a:ext cx="201168" cy="201168"/>
          </a:xfrm>
          <a:prstGeom prst="ellipse">
            <a:avLst/>
          </a:prstGeom>
          <a:solidFill>
            <a:srgbClr val="263346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30552" y="5093208"/>
            <a:ext cx="201168" cy="201168"/>
          </a:xfrm>
          <a:prstGeom prst="ellipse">
            <a:avLst/>
          </a:prstGeom>
          <a:solidFill>
            <a:srgbClr val="263346"/>
          </a:solidFill>
          <a:ln w="6350">
            <a:solidFill>
              <a:srgbClr val="53627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42032" y="4754880"/>
            <a:ext cx="120700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Shared Storage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04672" y="55961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2D9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필터링 · 조인 · 집계는 DB 서버 도착 후 수행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51376" y="2862072"/>
            <a:ext cx="1572768" cy="1572768"/>
          </a:xfrm>
          <a:prstGeom prst="ellipse">
            <a:avLst/>
          </a:prstGeom>
          <a:solidFill>
            <a:srgbClr val="20171B"/>
          </a:solidFill>
          <a:ln w="19050">
            <a:solidFill>
              <a:srgbClr val="FFB84D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416552" y="3099816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병목의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본질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407408" y="3666744"/>
            <a:ext cx="10607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I/O 대기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15384" y="455371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이동량을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B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줄여야 한다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73168" y="5138928"/>
            <a:ext cx="749808" cy="384048"/>
          </a:xfrm>
          <a:prstGeom prst="chevron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79592" y="1664208"/>
            <a:ext cx="5833872" cy="4315968"/>
          </a:xfrm>
          <a:prstGeom prst="roundRect">
            <a:avLst>
              <a:gd name="adj" fmla="val 2119"/>
            </a:avLst>
          </a:prstGeom>
          <a:solidFill>
            <a:srgbClr val="0E1724"/>
          </a:solidFill>
          <a:ln w="15240">
            <a:solidFill>
              <a:srgbClr val="20424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44768" y="1874520"/>
            <a:ext cx="1389888" cy="301752"/>
          </a:xfrm>
          <a:prstGeom prst="roundRect">
            <a:avLst>
              <a:gd name="adj" fmla="val 24242"/>
            </a:avLst>
          </a:prstGeom>
          <a:solidFill>
            <a:srgbClr val="14383A"/>
          </a:solidFill>
          <a:ln w="12700">
            <a:solidFill>
              <a:srgbClr val="1438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44768" y="1874520"/>
            <a:ext cx="1389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Exadata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44768" y="2258568"/>
            <a:ext cx="5138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Scan 지원 작업을 Storage Cell로 offload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7699248" y="2706624"/>
            <a:ext cx="2249424" cy="987552"/>
          </a:xfrm>
          <a:prstGeom prst="roundRect">
            <a:avLst>
              <a:gd name="adj" fmla="val 7407"/>
            </a:avLst>
          </a:prstGeom>
          <a:solidFill>
            <a:srgbClr val="182230"/>
          </a:solidFill>
          <a:ln w="13970">
            <a:solidFill>
              <a:srgbClr val="35445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863840" y="2880360"/>
            <a:ext cx="1920240" cy="164592"/>
          </a:xfrm>
          <a:prstGeom prst="rect">
            <a:avLst/>
          </a:prstGeom>
          <a:solidFill>
            <a:srgbClr val="0D131D"/>
          </a:solidFill>
          <a:ln w="7620">
            <a:solidFill>
              <a:srgbClr val="2B39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619488" y="2921508"/>
            <a:ext cx="64008" cy="64008"/>
          </a:xfrm>
          <a:prstGeom prst="ellipse">
            <a:avLst/>
          </a:prstGeom>
          <a:solidFill>
            <a:srgbClr val="38C5D8"/>
          </a:solidFill>
          <a:ln w="12700">
            <a:solidFill>
              <a:srgbClr val="38C5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863840" y="3172968"/>
            <a:ext cx="1920240" cy="164592"/>
          </a:xfrm>
          <a:prstGeom prst="rect">
            <a:avLst/>
          </a:prstGeom>
          <a:solidFill>
            <a:srgbClr val="0D131D"/>
          </a:solidFill>
          <a:ln w="7620">
            <a:solidFill>
              <a:srgbClr val="2B39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619488" y="3214116"/>
            <a:ext cx="64008" cy="64008"/>
          </a:xfrm>
          <a:prstGeom prst="ellipse">
            <a:avLst/>
          </a:prstGeom>
          <a:solidFill>
            <a:srgbClr val="38C5D8"/>
          </a:solidFill>
          <a:ln w="12700">
            <a:solidFill>
              <a:srgbClr val="38C5D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3840" y="3465576"/>
            <a:ext cx="1920240" cy="164592"/>
          </a:xfrm>
          <a:prstGeom prst="rect">
            <a:avLst/>
          </a:prstGeom>
          <a:solidFill>
            <a:srgbClr val="0D131D"/>
          </a:solidFill>
          <a:ln w="7620">
            <a:solidFill>
              <a:srgbClr val="2B39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19488" y="3506724"/>
            <a:ext cx="64008" cy="64008"/>
          </a:xfrm>
          <a:prstGeom prst="ellipse">
            <a:avLst/>
          </a:prstGeom>
          <a:solidFill>
            <a:srgbClr val="38C5D8"/>
          </a:solidFill>
          <a:ln w="12700">
            <a:solidFill>
              <a:srgbClr val="38C5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699248" y="3419856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 Server · 결과 처리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796528" y="3703320"/>
            <a:ext cx="384048" cy="429768"/>
          </a:xfrm>
          <a:prstGeom prst="upArrow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53728" y="3767328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축소된 데이터 반환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45352" y="4197096"/>
            <a:ext cx="1627632" cy="749808"/>
          </a:xfrm>
          <a:prstGeom prst="roundRect">
            <a:avLst>
              <a:gd name="adj" fmla="val 9756"/>
            </a:avLst>
          </a:prstGeom>
          <a:solidFill>
            <a:srgbClr val="11262B"/>
          </a:solidFill>
          <a:ln w="1397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373368" y="4334256"/>
            <a:ext cx="393192" cy="393192"/>
          </a:xfrm>
          <a:prstGeom prst="rect">
            <a:avLst/>
          </a:prstGeom>
          <a:solidFill>
            <a:srgbClr val="183B3F"/>
          </a:solidFill>
          <a:ln w="10160">
            <a:solidFill>
              <a:srgbClr val="2DD4B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83096" y="4443984"/>
            <a:ext cx="173736" cy="17373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6288" y="4306824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Scan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876288" y="455371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D2D9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 필터 · 열 선택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001000" y="4197096"/>
            <a:ext cx="1627632" cy="749808"/>
          </a:xfrm>
          <a:prstGeom prst="roundRect">
            <a:avLst>
              <a:gd name="adj" fmla="val 9756"/>
            </a:avLst>
          </a:prstGeom>
          <a:solidFill>
            <a:srgbClr val="11262B"/>
          </a:solidFill>
          <a:ln w="1397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129016" y="4334256"/>
            <a:ext cx="393192" cy="393192"/>
          </a:xfrm>
          <a:prstGeom prst="rect">
            <a:avLst/>
          </a:prstGeom>
          <a:solidFill>
            <a:srgbClr val="183B3F"/>
          </a:solidFill>
          <a:ln w="10160">
            <a:solidFill>
              <a:srgbClr val="2DD4B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38744" y="4443984"/>
            <a:ext cx="173736" cy="17373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31936" y="4306824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Index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631936" y="455371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D2D9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영역 metadata로 I/O skip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756648" y="4197096"/>
            <a:ext cx="1627632" cy="749808"/>
          </a:xfrm>
          <a:prstGeom prst="roundRect">
            <a:avLst>
              <a:gd name="adj" fmla="val 9756"/>
            </a:avLst>
          </a:prstGeom>
          <a:solidFill>
            <a:srgbClr val="11262B"/>
          </a:solidFill>
          <a:ln w="1397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2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9884664" y="4334256"/>
            <a:ext cx="393192" cy="393192"/>
          </a:xfrm>
          <a:prstGeom prst="rect">
            <a:avLst/>
          </a:prstGeom>
          <a:solidFill>
            <a:srgbClr val="183B3F"/>
          </a:solidFill>
          <a:ln w="10160">
            <a:solidFill>
              <a:srgbClr val="2DD4B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994392" y="4443984"/>
            <a:ext cx="173736" cy="173736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387584" y="4306824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Parallel Offload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0387584" y="455371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D2D9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Cell이 병렬 처리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059168" y="5093208"/>
            <a:ext cx="3520440" cy="0"/>
          </a:xfrm>
          <a:prstGeom prst="line">
            <a:avLst/>
          </a:prstGeom>
          <a:noFill/>
          <a:ln w="15240">
            <a:solidFill>
              <a:srgbClr val="2C7E8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36208" y="5330952"/>
            <a:ext cx="5157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D2D9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저장 계층을 SQL-aware offload layer로 확장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75488" y="6144768"/>
            <a:ext cx="11237976" cy="310896"/>
          </a:xfrm>
          <a:prstGeom prst="roundRect">
            <a:avLst>
              <a:gd name="adj" fmla="val 23529"/>
            </a:avLst>
          </a:prstGeom>
          <a:solidFill>
            <a:srgbClr val="171F2B"/>
          </a:solidFill>
          <a:ln w="10160">
            <a:solidFill>
              <a:srgbClr val="2A374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3232" y="6163056"/>
            <a:ext cx="10634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Exadata의 혁신  —  </a:t>
            </a:r>
            <a:pPr algn="l" indent="0" marL="0">
              <a:buNone/>
            </a:pPr>
            <a:r>
              <a:rPr lang="en-US" sz="1000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“스토리지에서 데이터를 꺼내 오는 방식”을  </a:t>
            </a:r>
            <a:pPr algn="l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“스토리지에서 먼저 줄이고, 축소된 데이터를 보내는 방식”</a:t>
            </a:r>
            <a:pPr algn="l" indent="0" marL="0">
              <a:buNone/>
            </a:pPr>
            <a:r>
              <a:rPr lang="en-US" sz="1000" dirty="0">
                <a:solidFill>
                  <a:srgbClr val="F6F8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바꾼 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97586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Oracle DB 성능 병목과 Exadata의 혁신</dc:title>
  <dc:subject>Oracle DB storage bottleneck and Exadata innovation</dc:subject>
  <dc:creator>Astra · Nexus IT</dc:creator>
  <cp:lastModifiedBy>Astra · Nexus IT</cp:lastModifiedBy>
  <cp:revision>1</cp:revision>
  <dcterms:created xsi:type="dcterms:W3CDTF">2026-07-21T10:06:45Z</dcterms:created>
  <dcterms:modified xsi:type="dcterms:W3CDTF">2026-07-21T10:06:45Z</dcterms:modified>
</cp:coreProperties>
</file>